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773d77cc474aac" /><Relationship Type="http://schemas.openxmlformats.org/officeDocument/2006/relationships/extended-properties" Target="/docProps/app.xml" Id="Rc1d4a5c950b74b9f" /><Relationship Type="http://schemas.openxmlformats.org/officeDocument/2006/relationships/officeDocument" Target="/ppt/presentation.xml" Id="R785547e52c7f42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9765ab180b48bf"/>
  </p:sldMasterIdLst>
  <p:notesMasterIdLst>
    <p:notesMasterId xmlns:r="http://schemas.openxmlformats.org/officeDocument/2006/relationships" r:id="Re43281394a3648ff"/>
  </p:notesMasterIdLst>
  <p:sldIdLst>
    <p:sldId xmlns:r="http://schemas.openxmlformats.org/officeDocument/2006/relationships" id="256" r:id="R05fdf6a8e5624235"/>
    <p:sldId xmlns:r="http://schemas.openxmlformats.org/officeDocument/2006/relationships" id="257" r:id="Ra66f3f42ea284cc4"/>
    <p:sldId xmlns:r="http://schemas.openxmlformats.org/officeDocument/2006/relationships" id="258" r:id="R46cdf939cf624c41"/>
    <p:sldId xmlns:r="http://schemas.openxmlformats.org/officeDocument/2006/relationships" id="259" r:id="Rf84ca8fcb87644f6"/>
    <p:sldId xmlns:r="http://schemas.openxmlformats.org/officeDocument/2006/relationships" id="260" r:id="R673f18f1387d4e40"/>
    <p:sldId xmlns:r="http://schemas.openxmlformats.org/officeDocument/2006/relationships" id="261" r:id="Re9f602d2045c4bde"/>
    <p:sldId xmlns:r="http://schemas.openxmlformats.org/officeDocument/2006/relationships" id="262" r:id="R9dedbee1c5b34beb"/>
    <p:sldId xmlns:r="http://schemas.openxmlformats.org/officeDocument/2006/relationships" id="263" r:id="R404c8d3dd7154a81"/>
    <p:sldId xmlns:r="http://schemas.openxmlformats.org/officeDocument/2006/relationships" id="264" r:id="R85fd134175ee4a16"/>
    <p:sldId xmlns:r="http://schemas.openxmlformats.org/officeDocument/2006/relationships" id="265" r:id="Rf3be88c986d943e2"/>
    <p:sldId xmlns:r="http://schemas.openxmlformats.org/officeDocument/2006/relationships" id="266" r:id="R02a3f2f8d9dd47c9"/>
    <p:sldId xmlns:r="http://schemas.openxmlformats.org/officeDocument/2006/relationships" id="267" r:id="Rc09a555920f0469a"/>
    <p:sldId xmlns:r="http://schemas.openxmlformats.org/officeDocument/2006/relationships" id="268" r:id="R93bba39f4dc34759"/>
    <p:sldId xmlns:r="http://schemas.openxmlformats.org/officeDocument/2006/relationships" id="269" r:id="R6423934649e54500"/>
    <p:sldId xmlns:r="http://schemas.openxmlformats.org/officeDocument/2006/relationships" id="270" r:id="R0ce49b7861bd45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d4bbacb0014503" /><Relationship Type="http://schemas.openxmlformats.org/officeDocument/2006/relationships/slideMaster" Target="/ppt/slideMasters/slideMaster1.xml" Id="R419765ab180b48bf" /><Relationship Type="http://schemas.openxmlformats.org/officeDocument/2006/relationships/notesMaster" Target="/ppt/notesMasters/notesMaster1.xml" Id="Re43281394a3648ff" /><Relationship Type="http://schemas.openxmlformats.org/officeDocument/2006/relationships/presProps" Target="/ppt/presProps.xml" Id="R227fa27e6baf4c83" /><Relationship Type="http://schemas.openxmlformats.org/officeDocument/2006/relationships/tableStyles" Target="/ppt/tableStyles.xml" Id="R027627772833475f" /><Relationship Type="http://schemas.openxmlformats.org/officeDocument/2006/relationships/slide" Target="/ppt/slides/slide1.xml" Id="R05fdf6a8e5624235" /><Relationship Type="http://schemas.openxmlformats.org/officeDocument/2006/relationships/slide" Target="/ppt/slides/slide2.xml" Id="Ra66f3f42ea284cc4" /><Relationship Type="http://schemas.openxmlformats.org/officeDocument/2006/relationships/slide" Target="/ppt/slides/slide3.xml" Id="R46cdf939cf624c41" /><Relationship Type="http://schemas.openxmlformats.org/officeDocument/2006/relationships/slide" Target="/ppt/slides/slide4.xml" Id="Rf84ca8fcb87644f6" /><Relationship Type="http://schemas.openxmlformats.org/officeDocument/2006/relationships/slide" Target="/ppt/slides/slide5.xml" Id="R673f18f1387d4e40" /><Relationship Type="http://schemas.openxmlformats.org/officeDocument/2006/relationships/slide" Target="/ppt/slides/slide6.xml" Id="Re9f602d2045c4bde" /><Relationship Type="http://schemas.openxmlformats.org/officeDocument/2006/relationships/slide" Target="/ppt/slides/slide7.xml" Id="R9dedbee1c5b34beb" /><Relationship Type="http://schemas.openxmlformats.org/officeDocument/2006/relationships/slide" Target="/ppt/slides/slide8.xml" Id="R404c8d3dd7154a81" /><Relationship Type="http://schemas.openxmlformats.org/officeDocument/2006/relationships/slide" Target="/ppt/slides/slide9.xml" Id="R85fd134175ee4a16" /><Relationship Type="http://schemas.openxmlformats.org/officeDocument/2006/relationships/slide" Target="/ppt/slides/slide10.xml" Id="Rf3be88c986d943e2" /><Relationship Type="http://schemas.openxmlformats.org/officeDocument/2006/relationships/slide" Target="/ppt/slides/slide11.xml" Id="R02a3f2f8d9dd47c9" /><Relationship Type="http://schemas.openxmlformats.org/officeDocument/2006/relationships/slide" Target="/ppt/slides/slide12.xml" Id="Rc09a555920f0469a" /><Relationship Type="http://schemas.openxmlformats.org/officeDocument/2006/relationships/slide" Target="/ppt/slides/slide13.xml" Id="R93bba39f4dc34759" /><Relationship Type="http://schemas.openxmlformats.org/officeDocument/2006/relationships/slide" Target="/ppt/slides/slide14.xml" Id="R6423934649e54500" /><Relationship Type="http://schemas.openxmlformats.org/officeDocument/2006/relationships/slide" Target="/ppt/slides/slide15.xml" Id="R0ce49b7861bd45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c32dcfc84c4f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3e6448687c4293" /><Relationship Type="http://schemas.openxmlformats.org/officeDocument/2006/relationships/notesMaster" Target="/ppt/notesMasters/notesMaster1.xml" Id="R93b015c010184b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dbd077dc454a44" /><Relationship Type="http://schemas.openxmlformats.org/officeDocument/2006/relationships/notesMaster" Target="/ppt/notesMasters/notesMaster1.xml" Id="R6ac3ea5d52984d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7c0eb31d1d4218" /><Relationship Type="http://schemas.openxmlformats.org/officeDocument/2006/relationships/notesMaster" Target="/ppt/notesMasters/notesMaster1.xml" Id="R2b07eed95e7340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99f82266fb4eea" /><Relationship Type="http://schemas.openxmlformats.org/officeDocument/2006/relationships/notesMaster" Target="/ppt/notesMasters/notesMaster1.xml" Id="R20db9be245344e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bb0be1f90442e3" /><Relationship Type="http://schemas.openxmlformats.org/officeDocument/2006/relationships/notesMaster" Target="/ppt/notesMasters/notesMaster1.xml" Id="R7098b90a508d4a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7735f8d8fe4baf" /><Relationship Type="http://schemas.openxmlformats.org/officeDocument/2006/relationships/notesMaster" Target="/ppt/notesMasters/notesMaster1.xml" Id="Rdbee0ee09f9c42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ee6def7a8a4d77" /><Relationship Type="http://schemas.openxmlformats.org/officeDocument/2006/relationships/notesMaster" Target="/ppt/notesMasters/notesMaster1.xml" Id="Rf3fc037ef7d24f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01f0ebf61e4f6d" /><Relationship Type="http://schemas.openxmlformats.org/officeDocument/2006/relationships/notesMaster" Target="/ppt/notesMasters/notesMaster1.xml" Id="R4ae8c12a290d43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9bcfcb651241d2" /><Relationship Type="http://schemas.openxmlformats.org/officeDocument/2006/relationships/notesMaster" Target="/ppt/notesMasters/notesMaster1.xml" Id="R004efe9b10a049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00dcba7644405b" /><Relationship Type="http://schemas.openxmlformats.org/officeDocument/2006/relationships/notesMaster" Target="/ppt/notesMasters/notesMaster1.xml" Id="Ra8045fe95da049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3d172ab11e48aa" /><Relationship Type="http://schemas.openxmlformats.org/officeDocument/2006/relationships/notesMaster" Target="/ppt/notesMasters/notesMaster1.xml" Id="R20ae2481b96247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5062bce2464490" /><Relationship Type="http://schemas.openxmlformats.org/officeDocument/2006/relationships/notesMaster" Target="/ppt/notesMasters/notesMaster1.xml" Id="Rba05e96fd18e43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7d576075784434" /><Relationship Type="http://schemas.openxmlformats.org/officeDocument/2006/relationships/notesMaster" Target="/ppt/notesMasters/notesMaster1.xml" Id="R5112fbaf609443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108e0d15f94e0b" /><Relationship Type="http://schemas.openxmlformats.org/officeDocument/2006/relationships/notesMaster" Target="/ppt/notesMasters/notesMaster1.xml" Id="Rd8c9f99ff0bb4a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980ccb9d744d3e" /><Relationship Type="http://schemas.openxmlformats.org/officeDocument/2006/relationships/notesMaster" Target="/ppt/notesMasters/notesMaster1.xml" Id="R3731b733031944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eb7565d6c24c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15dfdc11b74977" /><Relationship Type="http://schemas.openxmlformats.org/officeDocument/2006/relationships/slideLayout" Target="/ppt/slideLayouts/slideLayout1.xml" Id="R874099d63a6944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4099d63a6944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6fbdf502a414b" /><Relationship Type="http://schemas.openxmlformats.org/officeDocument/2006/relationships/image" Target="/ppt/media/image.png" Id="R672ea8f34b614f9d" /><Relationship Type="http://schemas.openxmlformats.org/officeDocument/2006/relationships/notesSlide" Target="/ppt/notesSlides/notesSlide1.xml" Id="R4552aeb52ba847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1c33026f642b4" /><Relationship Type="http://schemas.openxmlformats.org/officeDocument/2006/relationships/image" Target="/ppt/media/image2.png" Id="R09566004b23f4630" /><Relationship Type="http://schemas.openxmlformats.org/officeDocument/2006/relationships/notesSlide" Target="/ppt/notesSlides/notesSlide2.xml" Id="R49dd1744012544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1a401f8534a4b" /><Relationship Type="http://schemas.openxmlformats.org/officeDocument/2006/relationships/image" Target="/ppt/media/image3.png" Id="R77eaa5e3bcbf468d" /><Relationship Type="http://schemas.openxmlformats.org/officeDocument/2006/relationships/image" Target="/ppt/media/image4.png" Id="R394d404eeffc4c80" /><Relationship Type="http://schemas.openxmlformats.org/officeDocument/2006/relationships/image" Target="/ppt/media/image5.png" Id="R7644aa50cc9543e0" /><Relationship Type="http://schemas.openxmlformats.org/officeDocument/2006/relationships/image" Target="/ppt/media/image6.png" Id="R5cb80a8d91df4a2e" /><Relationship Type="http://schemas.openxmlformats.org/officeDocument/2006/relationships/notesSlide" Target="/ppt/notesSlides/notesSlide3.xml" Id="Rfcefab2645fd45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b308eba8f4e0c" /><Relationship Type="http://schemas.openxmlformats.org/officeDocument/2006/relationships/notesSlide" Target="/ppt/notesSlides/notesSlide4.xml" Id="Rc2685270b9af43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9191b644b4e24" /><Relationship Type="http://schemas.openxmlformats.org/officeDocument/2006/relationships/notesSlide" Target="/ppt/notesSlides/notesSlide5.xml" Id="R00f537392c3144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5a1b1439c4af2" /><Relationship Type="http://schemas.openxmlformats.org/officeDocument/2006/relationships/image" Target="/ppt/media/image7.png" Id="R3c76a2e26a764d5e" /><Relationship Type="http://schemas.openxmlformats.org/officeDocument/2006/relationships/notesSlide" Target="/ppt/notesSlides/notesSlide6.xml" Id="R5053019b6dbc40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6325fefac4696" /><Relationship Type="http://schemas.openxmlformats.org/officeDocument/2006/relationships/image" Target="/ppt/media/image8.png" Id="Rd3d43fec094a4f2f" /><Relationship Type="http://schemas.openxmlformats.org/officeDocument/2006/relationships/notesSlide" Target="/ppt/notesSlides/notesSlide7.xml" Id="R4c3ae01ee33544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c0f74fe0e4ce1" /><Relationship Type="http://schemas.openxmlformats.org/officeDocument/2006/relationships/image" Target="/ppt/media/image9.png" Id="R6868fe946f6243a2" /><Relationship Type="http://schemas.openxmlformats.org/officeDocument/2006/relationships/image" Target="/ppt/media/image10.png" Id="Rc2b99382ca354627" /><Relationship Type="http://schemas.openxmlformats.org/officeDocument/2006/relationships/notesSlide" Target="/ppt/notesSlides/notesSlide8.xml" Id="R98f831b984d74c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b48c487a043a2" /><Relationship Type="http://schemas.openxmlformats.org/officeDocument/2006/relationships/image" Target="/ppt/media/image.jpeg" Id="R1fbf5f66a7a746ff" /><Relationship Type="http://schemas.openxmlformats.org/officeDocument/2006/relationships/image" Target="/ppt/media/image2.jpeg" Id="Re278b27cae304b37" /><Relationship Type="http://schemas.openxmlformats.org/officeDocument/2006/relationships/image" Target="/ppt/media/image11.png" Id="R2b62d2e455fd467d" /><Relationship Type="http://schemas.openxmlformats.org/officeDocument/2006/relationships/image" Target="/ppt/media/image12.png" Id="R78ddee0a894145d4" /><Relationship Type="http://schemas.openxmlformats.org/officeDocument/2006/relationships/notesSlide" Target="/ppt/notesSlides/notesSlide9.xml" Id="Rd228c55ac2674f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fb81790aa49db" /><Relationship Type="http://schemas.openxmlformats.org/officeDocument/2006/relationships/image" Target="/ppt/media/image13.png" Id="R689ecb7838654e88" /><Relationship Type="http://schemas.openxmlformats.org/officeDocument/2006/relationships/image" Target="/ppt/media/image14.png" Id="Rffeee9ec0e9c4f03" /><Relationship Type="http://schemas.openxmlformats.org/officeDocument/2006/relationships/image" Target="/ppt/media/image15.png" Id="R169c72e30cc34e04" /><Relationship Type="http://schemas.openxmlformats.org/officeDocument/2006/relationships/image" Target="/ppt/media/image16.png" Id="Rd5a6c0a0fa9941d5" /><Relationship Type="http://schemas.openxmlformats.org/officeDocument/2006/relationships/notesSlide" Target="/ppt/notesSlides/notesSlide10.xml" Id="Rb59888a81c1c43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3b5a92aed47e4" /><Relationship Type="http://schemas.openxmlformats.org/officeDocument/2006/relationships/image" Target="/ppt/media/image17.png" Id="R4b9be4a42f4046c8" /><Relationship Type="http://schemas.openxmlformats.org/officeDocument/2006/relationships/notesSlide" Target="/ppt/notesSlides/notesSlide11.xml" Id="R285dff656d2545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75d7d8cf544f5" /><Relationship Type="http://schemas.openxmlformats.org/officeDocument/2006/relationships/image" Target="/ppt/media/image18.png" Id="Ra618d87a3a414b05" /><Relationship Type="http://schemas.openxmlformats.org/officeDocument/2006/relationships/image" Target="/ppt/media/image19.png" Id="R12f936d6c39f4322" /><Relationship Type="http://schemas.openxmlformats.org/officeDocument/2006/relationships/image" Target="/ppt/media/image20.png" Id="R755644c17cea4dd2" /><Relationship Type="http://schemas.openxmlformats.org/officeDocument/2006/relationships/image" Target="/ppt/media/image21.png" Id="Rbb8e4d33477a4e82" /><Relationship Type="http://schemas.openxmlformats.org/officeDocument/2006/relationships/image" Target="/ppt/media/image22.png" Id="Re286e02b71ae435f" /><Relationship Type="http://schemas.openxmlformats.org/officeDocument/2006/relationships/notesSlide" Target="/ppt/notesSlides/notesSlide12.xml" Id="Reacad3f64d4641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b3828459e4f9a" /><Relationship Type="http://schemas.openxmlformats.org/officeDocument/2006/relationships/image" Target="/ppt/media/image23.png" Id="R361aa54a387343ad" /><Relationship Type="http://schemas.openxmlformats.org/officeDocument/2006/relationships/image" Target="/ppt/media/image24.png" Id="Rd14235641cc44a40" /><Relationship Type="http://schemas.openxmlformats.org/officeDocument/2006/relationships/image" Target="/ppt/media/image25.png" Id="Ra7e1b37321ca44fc" /><Relationship Type="http://schemas.openxmlformats.org/officeDocument/2006/relationships/image" Target="/ppt/media/image26.png" Id="Rb777c06d3e714fe5" /><Relationship Type="http://schemas.openxmlformats.org/officeDocument/2006/relationships/image" Target="/ppt/media/image27.png" Id="Rf76d17410a194786" /><Relationship Type="http://schemas.openxmlformats.org/officeDocument/2006/relationships/image" Target="/ppt/media/image28.png" Id="R99a595b5b6014ff7" /><Relationship Type="http://schemas.openxmlformats.org/officeDocument/2006/relationships/image" Target="/ppt/media/image3.jpeg" Id="Refb06eea8c2f45d4" /><Relationship Type="http://schemas.openxmlformats.org/officeDocument/2006/relationships/image" Target="/ppt/media/image4.jpeg" Id="R7d04fadaff334d32" /><Relationship Type="http://schemas.openxmlformats.org/officeDocument/2006/relationships/notesSlide" Target="/ppt/notesSlides/notesSlide13.xml" Id="Ref51c6693afd46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4688b34e64e92" /><Relationship Type="http://schemas.openxmlformats.org/officeDocument/2006/relationships/notesSlide" Target="/ppt/notesSlides/notesSlide14.xml" Id="R792de3af48f04d3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62a47922841b4" /><Relationship Type="http://schemas.openxmlformats.org/officeDocument/2006/relationships/image" Target="/ppt/media/image29.png" Id="R38f1f33adade48f3" /><Relationship Type="http://schemas.openxmlformats.org/officeDocument/2006/relationships/notesSlide" Target="/ppt/notesSlides/notesSlide15.xml" Id="R052847f845264c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ea8f34b614f9d"/>
          <a:srcRect xmlns:a="http://schemas.openxmlformats.org/drawingml/2006/main" l="16667" t="0" r="1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panel">
            <a:extLst xmlns:a="http://schemas.openxmlformats.org/drawingml/2006/main">
              <a:ext uri="{FF2B5EF4-FFF2-40B4-BE49-F238E27FC236}">
                <a16:creationId xmlns:a16="http://schemas.microsoft.com/office/drawing/2014/main" id="{66DDAA40-7ECE-459F-A4B6-D6E58FF0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5076560-EA83-45DC-B934-3CB82492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181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363DA14-617E-47D2-BF53-D94D65FD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84420"/>
                </a:solidFill>
              </a:defRPr>
            </a:pPr>
            <a:r>
              <a:rPr sz="1125" b="1" i="0">
                <a:solidFill>
                  <a:srgbClr val="A84420"/>
                </a:solidFill>
              </a:rPr>
              <a:t>PROJECT CONTROL DOCUMENT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7EEEA63-0A9F-4ED8-BB26-721A3416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143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AURORA</a:t>
            </a:r>
          </a:p>
          <a:p xmlns:a="http://schemas.openxmlformats.org/drawingml/2006/main">
            <a:pPr algn="l"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VISUAL DESIGN</a:t>
            </a:r>
          </a:p>
          <a:p xmlns:a="http://schemas.openxmlformats.org/drawingml/2006/main">
            <a:pPr algn="l"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GUIDE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95CDFDA-C433-4662-BB25-C6FC834E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8E5F2"/>
                </a:solidFill>
              </a:defRPr>
            </a:pPr>
            <a:r>
              <a:rPr sz="1725" b="0" i="0">
                <a:solidFill>
                  <a:srgbClr val="D8E5F2"/>
                </a:solidFill>
              </a:rPr>
              <a:t>A working system for documents, props, screens and promotional assets</a:t>
            </a:r>
          </a:p>
        </p:txBody>
      </p:sp>
      <p:sp>
        <p:nvSpPr>
          <p:cNvPr id="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98BA616F-6FAE-4E4C-BCA9-9847B1FC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WORKING STANDARD  •  2026</a:t>
            </a:r>
          </a:p>
        </p:txBody>
      </p:sp>
    </p:spTree>
    <p:extLst>
      <p:ext uri="{BB962C8B-B14F-4D97-AF65-F5344CB8AC3E}">
        <p14:creationId xmlns:p14="http://schemas.microsoft.com/office/powerpoint/2010/main" val="15420211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">
            <a:extLst xmlns:a="http://schemas.openxmlformats.org/drawingml/2006/main">
              <a:ext uri="{FF2B5EF4-FFF2-40B4-BE49-F238E27FC236}">
                <a16:creationId xmlns:a16="http://schemas.microsoft.com/office/drawing/2014/main" id="{6E9348FF-F534-420E-963A-DAF904CE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3816B49-9F66-433A-94B3-A1DF5AA7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FOUNDATION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121C31-0564-4886-BFFB-4C587E15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The identity balances authority and danger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1DDC8BA-6DC0-4857-A60E-2203FD1D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8820C0A-74B1-4470-A098-3ECF3D92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A8D139B-E491-4987-BC97-499469C6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02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66004b23f4630"/>
          <a:stretch xmlns:a="http://schemas.openxmlformats.org/drawingml/2006/main"/>
        </p:blipFill>
        <p:spPr>
          <a:xfrm xmlns:a="http://schemas.openxmlformats.org/drawingml/2006/main">
            <a:off x="685800" y="1562100"/>
            <a:ext cx="2571750" cy="2571750"/>
          </a:xfrm>
          <a:prstGeom xmlns:a="http://schemas.openxmlformats.org/drawingml/2006/main" prst="rect">
            <a:avLst/>
          </a:prstGeom>
        </p:spPr>
      </p:pic>
      <p:sp>
        <p:nvSpPr>
          <p:cNvPr id="8" name="label-Core impression-72-464">
            <a:extLst xmlns:a="http://schemas.openxmlformats.org/drawingml/2006/main">
              <a:ext uri="{FF2B5EF4-FFF2-40B4-BE49-F238E27FC236}">
                <a16:creationId xmlns:a16="http://schemas.microsoft.com/office/drawing/2014/main" id="{F68A3821-A18E-43F2-B60C-E740D4D4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CORE IMPRESSION</a:t>
            </a:r>
          </a:p>
        </p:txBody>
      </p:sp>
      <p:sp>
        <p:nvSpPr>
          <p:cNvPr id="9" name="core-impression">
            <a:extLst xmlns:a="http://schemas.openxmlformats.org/drawingml/2006/main">
              <a:ext uri="{FF2B5EF4-FFF2-40B4-BE49-F238E27FC236}">
                <a16:creationId xmlns:a16="http://schemas.microsoft.com/office/drawing/2014/main" id="{7AE1F7EB-7621-4FC1-B131-A48ED001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6253C"/>
                </a:solidFill>
              </a:defRPr>
            </a:pPr>
            <a:r>
              <a:rPr sz="1725" b="1" i="0">
                <a:solidFill>
                  <a:srgbClr val="16253C"/>
                </a:solidFill>
              </a:rPr>
              <a:t>Canadian institutional</a:t>
            </a:r>
          </a:p>
          <a:p xmlns:a="http://schemas.openxmlformats.org/drawingml/2006/main">
            <a:pPr algn="l">
              <a:defRPr sz="1725" b="1" i="0">
                <a:solidFill>
                  <a:srgbClr val="16253C"/>
                </a:solidFill>
              </a:defRPr>
            </a:pPr>
            <a:r>
              <a:rPr sz="1725" b="1" i="0">
                <a:solidFill>
                  <a:srgbClr val="16253C"/>
                </a:solidFill>
              </a:rPr>
              <a:t>retro-futurism under pressure</a:t>
            </a:r>
          </a:p>
        </p:txBody>
      </p:sp>
      <p:sp>
        <p:nvSpPr>
          <p:cNvPr id="10" name="principle-0">
            <a:extLst xmlns:a="http://schemas.openxmlformats.org/drawingml/2006/main">
              <a:ext uri="{FF2B5EF4-FFF2-40B4-BE49-F238E27FC236}">
                <a16:creationId xmlns:a16="http://schemas.microsoft.com/office/drawing/2014/main" id="{73B523E3-C461-499F-BB08-A48E2528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0200"/>
            <a:ext cx="666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ciple-head-0">
            <a:extLst xmlns:a="http://schemas.openxmlformats.org/drawingml/2006/main">
              <a:ext uri="{FF2B5EF4-FFF2-40B4-BE49-F238E27FC236}">
                <a16:creationId xmlns:a16="http://schemas.microsoft.com/office/drawing/2014/main" id="{B88662F7-F29D-425D-8A19-93F4116C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253C"/>
                </a:solidFill>
              </a:defRPr>
            </a:pPr>
            <a:r>
              <a:rPr sz="1500" b="1" i="0">
                <a:solidFill>
                  <a:srgbClr val="16253C"/>
                </a:solidFill>
              </a:rPr>
              <a:t>CREDIBLE</a:t>
            </a:r>
          </a:p>
        </p:txBody>
      </p:sp>
      <p:sp>
        <p:nvSpPr>
          <p:cNvPr id="12" name="principle-body-0">
            <a:extLst xmlns:a="http://schemas.openxmlformats.org/drawingml/2006/main">
              <a:ext uri="{FF2B5EF4-FFF2-40B4-BE49-F238E27FC236}">
                <a16:creationId xmlns:a16="http://schemas.microsoft.com/office/drawing/2014/main" id="{00F6AC1E-ABC2-4EB4-90D9-A40BFD41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716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Official enough to feel issued by a real station or agency.</a:t>
            </a:r>
          </a:p>
        </p:txBody>
      </p:sp>
      <p:sp>
        <p:nvSpPr>
          <p:cNvPr id="13" name="principle-1">
            <a:extLst xmlns:a="http://schemas.openxmlformats.org/drawingml/2006/main">
              <a:ext uri="{FF2B5EF4-FFF2-40B4-BE49-F238E27FC236}">
                <a16:creationId xmlns:a16="http://schemas.microsoft.com/office/drawing/2014/main" id="{57B2C65E-B4AA-47C9-B0BF-CBFAD38E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666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ciple-head-1">
            <a:extLst xmlns:a="http://schemas.openxmlformats.org/drawingml/2006/main">
              <a:ext uri="{FF2B5EF4-FFF2-40B4-BE49-F238E27FC236}">
                <a16:creationId xmlns:a16="http://schemas.microsoft.com/office/drawing/2014/main" id="{8A068B19-BB34-4891-9BF9-B4AE16E8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253C"/>
                </a:solidFill>
              </a:defRPr>
            </a:pPr>
            <a:r>
              <a:rPr sz="1500" b="1" i="0">
                <a:solidFill>
                  <a:srgbClr val="16253C"/>
                </a:solidFill>
              </a:rPr>
              <a:t>TACTILE</a:t>
            </a:r>
          </a:p>
        </p:txBody>
      </p:sp>
      <p:sp>
        <p:nvSpPr>
          <p:cNvPr id="15" name="principle-body-1">
            <a:extLst xmlns:a="http://schemas.openxmlformats.org/drawingml/2006/main">
              <a:ext uri="{FF2B5EF4-FFF2-40B4-BE49-F238E27FC236}">
                <a16:creationId xmlns:a16="http://schemas.microsoft.com/office/drawing/2014/main" id="{C894463F-54B9-47B2-8BE1-795B7FCC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Props should look handled, printed, scanned, stamped or repaired.</a:t>
            </a:r>
          </a:p>
        </p:txBody>
      </p:sp>
      <p:sp>
        <p:nvSpPr>
          <p:cNvPr id="16" name="principle-2">
            <a:extLst xmlns:a="http://schemas.openxmlformats.org/drawingml/2006/main">
              <a:ext uri="{FF2B5EF4-FFF2-40B4-BE49-F238E27FC236}">
                <a16:creationId xmlns:a16="http://schemas.microsoft.com/office/drawing/2014/main" id="{5B4C8EB8-BAF3-4933-BA81-9830B1FE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81500"/>
            <a:ext cx="666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inciple-head-2">
            <a:extLst xmlns:a="http://schemas.openxmlformats.org/drawingml/2006/main">
              <a:ext uri="{FF2B5EF4-FFF2-40B4-BE49-F238E27FC236}">
                <a16:creationId xmlns:a16="http://schemas.microsoft.com/office/drawing/2014/main" id="{B492E68E-F8FF-4C39-8361-307A68D5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84420"/>
                </a:solidFill>
              </a:defRPr>
            </a:pPr>
            <a:r>
              <a:rPr sz="1500" b="1" i="0">
                <a:solidFill>
                  <a:srgbClr val="A84420"/>
                </a:solidFill>
              </a:rPr>
              <a:t>URGENT</a:t>
            </a:r>
          </a:p>
        </p:txBody>
      </p:sp>
      <p:sp>
        <p:nvSpPr>
          <p:cNvPr id="18" name="principle-body-2">
            <a:extLst xmlns:a="http://schemas.openxmlformats.org/drawingml/2006/main">
              <a:ext uri="{FF2B5EF4-FFF2-40B4-BE49-F238E27FC236}">
                <a16:creationId xmlns:a16="http://schemas.microsoft.com/office/drawing/2014/main" id="{9C4089C6-90E8-4AB7-8E5A-159120D6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Orange signals action, danger and anomalies—never decoration alone.</a:t>
            </a:r>
          </a:p>
        </p:txBody>
      </p:sp>
    </p:spTree>
    <p:extLst>
      <p:ext uri="{BB962C8B-B14F-4D97-AF65-F5344CB8AC3E}">
        <p14:creationId xmlns:p14="http://schemas.microsoft.com/office/powerpoint/2010/main" val="635495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">
            <a:extLst xmlns:a="http://schemas.openxmlformats.org/drawingml/2006/main">
              <a:ext uri="{FF2B5EF4-FFF2-40B4-BE49-F238E27FC236}">
                <a16:creationId xmlns:a16="http://schemas.microsoft.com/office/drawing/2014/main" id="{97BFDC00-2DEB-496F-8563-726AD1FB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54FD48F-67C7-4234-90CB-9203F05C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FOUNDATION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A2C48D-5FB7-4EE4-A06D-965D11F5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A clear hierarchy keeps the fictional world readable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E0F3B2B-B8DD-4AD9-A775-E1147485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155524F-34CD-4EAB-A650-347D6C02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E482303-6231-43E9-BF8C-98953E69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03</a:t>
            </a:r>
          </a:p>
        </p:txBody>
      </p:sp>
      <p:sp>
        <p:nvSpPr>
          <p:cNvPr id="7" name="arch-bg-0">
            <a:extLst xmlns:a="http://schemas.openxmlformats.org/drawingml/2006/main">
              <a:ext uri="{FF2B5EF4-FFF2-40B4-BE49-F238E27FC236}">
                <a16:creationId xmlns:a16="http://schemas.microsoft.com/office/drawing/2014/main" id="{6EA27006-3315-4A25-A03C-80F1FE5A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152650" cy="388620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aa5e3bcbf468d"/>
          <a:stretch xmlns:a="http://schemas.openxmlformats.org/drawingml/2006/main"/>
        </p:blipFill>
        <p:spPr>
          <a:xfrm xmlns:a="http://schemas.openxmlformats.org/drawingml/2006/main">
            <a:off x="1123950" y="1790700"/>
            <a:ext cx="1466850" cy="1466850"/>
          </a:xfrm>
          <a:prstGeom xmlns:a="http://schemas.openxmlformats.org/drawingml/2006/main" prst="rect">
            <a:avLst/>
          </a:prstGeom>
        </p:spPr>
      </p:pic>
      <p:sp>
        <p:nvSpPr>
          <p:cNvPr id="9" name="arch-role-0">
            <a:extLst xmlns:a="http://schemas.openxmlformats.org/drawingml/2006/main">
              <a:ext uri="{FF2B5EF4-FFF2-40B4-BE49-F238E27FC236}">
                <a16:creationId xmlns:a16="http://schemas.microsoft.com/office/drawing/2014/main" id="{8CFBE2C8-CBBC-4A54-AB7D-2490AA91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A84420"/>
                </a:solidFill>
              </a:defRPr>
            </a:pPr>
            <a:r>
              <a:rPr sz="825" b="1" i="0">
                <a:solidFill>
                  <a:srgbClr val="A84420"/>
                </a:solidFill>
              </a:rPr>
              <a:t>PRIMARY MARK</a:t>
            </a:r>
          </a:p>
        </p:txBody>
      </p:sp>
      <p:sp>
        <p:nvSpPr>
          <p:cNvPr id="10" name="arch-name-0">
            <a:extLst xmlns:a="http://schemas.openxmlformats.org/drawingml/2006/main">
              <a:ext uri="{FF2B5EF4-FFF2-40B4-BE49-F238E27FC236}">
                <a16:creationId xmlns:a16="http://schemas.microsoft.com/office/drawing/2014/main" id="{7A7AEF6E-C02C-4D0C-8E63-3AACBF1F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6253C"/>
                </a:solidFill>
              </a:defRPr>
            </a:pPr>
            <a:r>
              <a:rPr sz="1425" b="1" i="0">
                <a:solidFill>
                  <a:srgbClr val="16253C"/>
                </a:solidFill>
              </a:rPr>
              <a:t>Station Aurora</a:t>
            </a:r>
          </a:p>
        </p:txBody>
      </p:sp>
      <p:sp>
        <p:nvSpPr>
          <p:cNvPr id="11" name="arch-use-0">
            <a:extLst xmlns:a="http://schemas.openxmlformats.org/drawingml/2006/main">
              <a:ext uri="{FF2B5EF4-FFF2-40B4-BE49-F238E27FC236}">
                <a16:creationId xmlns:a16="http://schemas.microsoft.com/office/drawing/2014/main" id="{A9C12214-8D9B-4059-8F8F-2E4A288F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173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Adventure title, crew assets, station documents</a:t>
            </a:r>
          </a:p>
        </p:txBody>
      </p:sp>
      <p:sp>
        <p:nvSpPr>
          <p:cNvPr id="12" name="arch-bg-1">
            <a:extLst xmlns:a="http://schemas.openxmlformats.org/drawingml/2006/main">
              <a:ext uri="{FF2B5EF4-FFF2-40B4-BE49-F238E27FC236}">
                <a16:creationId xmlns:a16="http://schemas.microsoft.com/office/drawing/2014/main" id="{0E0C9637-C41B-48D1-BA1B-DE88960A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524000"/>
            <a:ext cx="2152650" cy="388620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d404eeffc4c80"/>
          <a:stretch xmlns:a="http://schemas.openxmlformats.org/drawingml/2006/main"/>
        </p:blipFill>
        <p:spPr>
          <a:xfrm xmlns:a="http://schemas.openxmlformats.org/drawingml/2006/main">
            <a:off x="3943350" y="2124370"/>
            <a:ext cx="1466850" cy="799509"/>
          </a:xfrm>
          <a:prstGeom xmlns:a="http://schemas.openxmlformats.org/drawingml/2006/main" prst="rect">
            <a:avLst/>
          </a:prstGeom>
        </p:spPr>
      </p:pic>
      <p:sp>
        <p:nvSpPr>
          <p:cNvPr id="14" name="arch-role-1">
            <a:extLst xmlns:a="http://schemas.openxmlformats.org/drawingml/2006/main">
              <a:ext uri="{FF2B5EF4-FFF2-40B4-BE49-F238E27FC236}">
                <a16:creationId xmlns:a16="http://schemas.microsoft.com/office/drawing/2014/main" id="{B88B3CD7-BF74-4582-B54A-42F9D130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29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A84420"/>
                </a:solidFill>
              </a:defRPr>
            </a:pPr>
            <a:r>
              <a:rPr sz="825" b="1" i="0">
                <a:solidFill>
                  <a:srgbClr val="A84420"/>
                </a:solidFill>
              </a:rPr>
              <a:t>PARENT AGENCY</a:t>
            </a:r>
          </a:p>
        </p:txBody>
      </p:sp>
      <p:sp>
        <p:nvSpPr>
          <p:cNvPr id="15" name="arch-name-1">
            <a:extLst xmlns:a="http://schemas.openxmlformats.org/drawingml/2006/main">
              <a:ext uri="{FF2B5EF4-FFF2-40B4-BE49-F238E27FC236}">
                <a16:creationId xmlns:a16="http://schemas.microsoft.com/office/drawing/2014/main" id="{9F9A1E34-13BE-4F73-A19E-62DE28A6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338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6253C"/>
                </a:solidFill>
              </a:defRPr>
            </a:pPr>
            <a:r>
              <a:rPr sz="1425" b="1" i="0">
                <a:solidFill>
                  <a:srgbClr val="16253C"/>
                </a:solidFill>
              </a:rPr>
              <a:t>MAPLE</a:t>
            </a:r>
          </a:p>
        </p:txBody>
      </p:sp>
      <p:sp>
        <p:nvSpPr>
          <p:cNvPr id="16" name="arch-use-1">
            <a:extLst xmlns:a="http://schemas.openxmlformats.org/drawingml/2006/main">
              <a:ext uri="{FF2B5EF4-FFF2-40B4-BE49-F238E27FC236}">
                <a16:creationId xmlns:a16="http://schemas.microsoft.com/office/drawing/2014/main" id="{B02900EC-8657-462C-9A5B-B1853EE9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38650"/>
            <a:ext cx="173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Official briefings, IDs and mission-control material</a:t>
            </a:r>
          </a:p>
        </p:txBody>
      </p:sp>
      <p:sp>
        <p:nvSpPr>
          <p:cNvPr id="17" name="arch-bg-2">
            <a:extLst xmlns:a="http://schemas.openxmlformats.org/drawingml/2006/main">
              <a:ext uri="{FF2B5EF4-FFF2-40B4-BE49-F238E27FC236}">
                <a16:creationId xmlns:a16="http://schemas.microsoft.com/office/drawing/2014/main" id="{3FA66FD2-F82A-4EC6-A5FE-63630A90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24000"/>
            <a:ext cx="2152650" cy="388620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4aa50cc9543e0"/>
          <a:stretch xmlns:a="http://schemas.openxmlformats.org/drawingml/2006/main"/>
        </p:blipFill>
        <p:spPr>
          <a:xfrm xmlns:a="http://schemas.openxmlformats.org/drawingml/2006/main">
            <a:off x="6762750" y="1790700"/>
            <a:ext cx="1466850" cy="1466850"/>
          </a:xfrm>
          <a:prstGeom xmlns:a="http://schemas.openxmlformats.org/drawingml/2006/main" prst="rect">
            <a:avLst/>
          </a:prstGeom>
        </p:spPr>
      </p:pic>
      <p:sp>
        <p:nvSpPr>
          <p:cNvPr id="19" name="arch-role-2">
            <a:extLst xmlns:a="http://schemas.openxmlformats.org/drawingml/2006/main">
              <a:ext uri="{FF2B5EF4-FFF2-40B4-BE49-F238E27FC236}">
                <a16:creationId xmlns:a16="http://schemas.microsoft.com/office/drawing/2014/main" id="{24773576-7F8E-46B3-8571-EFCEA346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9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A84420"/>
                </a:solidFill>
              </a:defRPr>
            </a:pPr>
            <a:r>
              <a:rPr sz="825" b="1" i="0">
                <a:solidFill>
                  <a:srgbClr val="A84420"/>
                </a:solidFill>
              </a:rPr>
              <a:t>SYSTEM MARK</a:t>
            </a:r>
          </a:p>
        </p:txBody>
      </p:sp>
      <p:sp>
        <p:nvSpPr>
          <p:cNvPr id="20" name="arch-name-2">
            <a:extLst xmlns:a="http://schemas.openxmlformats.org/drawingml/2006/main">
              <a:ext uri="{FF2B5EF4-FFF2-40B4-BE49-F238E27FC236}">
                <a16:creationId xmlns:a16="http://schemas.microsoft.com/office/drawing/2014/main" id="{97575A36-6149-4A1D-9729-E8BFE458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338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6253C"/>
                </a:solidFill>
              </a:defRPr>
            </a:pPr>
            <a:r>
              <a:rPr sz="1425" b="1" i="0">
                <a:solidFill>
                  <a:srgbClr val="16253C"/>
                </a:solidFill>
              </a:rPr>
              <a:t>H.A.R.O.L.D.</a:t>
            </a:r>
          </a:p>
        </p:txBody>
      </p:sp>
      <p:sp>
        <p:nvSpPr>
          <p:cNvPr id="21" name="arch-use-2">
            <a:extLst xmlns:a="http://schemas.openxmlformats.org/drawingml/2006/main">
              <a:ext uri="{FF2B5EF4-FFF2-40B4-BE49-F238E27FC236}">
                <a16:creationId xmlns:a16="http://schemas.microsoft.com/office/drawing/2014/main" id="{E54ADFEF-1E42-4C39-BB1D-19DA11FF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38650"/>
            <a:ext cx="173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Terminal, diagnostics and automated instructions</a:t>
            </a:r>
          </a:p>
        </p:txBody>
      </p:sp>
      <p:sp>
        <p:nvSpPr>
          <p:cNvPr id="22" name="arch-bg-3">
            <a:extLst xmlns:a="http://schemas.openxmlformats.org/drawingml/2006/main">
              <a:ext uri="{FF2B5EF4-FFF2-40B4-BE49-F238E27FC236}">
                <a16:creationId xmlns:a16="http://schemas.microsoft.com/office/drawing/2014/main" id="{D1AFAA6A-78C3-4A74-9123-D2D39A51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24000"/>
            <a:ext cx="2152650" cy="388620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80a8d91df4a2e"/>
          <a:stretch xmlns:a="http://schemas.openxmlformats.org/drawingml/2006/main"/>
        </p:blipFill>
        <p:spPr>
          <a:xfrm xmlns:a="http://schemas.openxmlformats.org/drawingml/2006/main">
            <a:off x="9582150" y="1790700"/>
            <a:ext cx="1466850" cy="1466850"/>
          </a:xfrm>
          <a:prstGeom xmlns:a="http://schemas.openxmlformats.org/drawingml/2006/main" prst="rect">
            <a:avLst/>
          </a:prstGeom>
        </p:spPr>
      </p:pic>
      <p:sp>
        <p:nvSpPr>
          <p:cNvPr id="24" name="arch-role-3">
            <a:extLst xmlns:a="http://schemas.openxmlformats.org/drawingml/2006/main">
              <a:ext uri="{FF2B5EF4-FFF2-40B4-BE49-F238E27FC236}">
                <a16:creationId xmlns:a16="http://schemas.microsoft.com/office/drawing/2014/main" id="{B1C505BB-4FC7-4428-BC4A-BF4E3B59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29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A84420"/>
                </a:solidFill>
              </a:defRPr>
            </a:pPr>
            <a:r>
              <a:rPr sz="825" b="1" i="0">
                <a:solidFill>
                  <a:srgbClr val="A84420"/>
                </a:solidFill>
              </a:rPr>
              <a:t>EVIDENCE MARKS</a:t>
            </a:r>
          </a:p>
        </p:txBody>
      </p:sp>
      <p:sp>
        <p:nvSpPr>
          <p:cNvPr id="25" name="arch-name-3">
            <a:extLst xmlns:a="http://schemas.openxmlformats.org/drawingml/2006/main">
              <a:ext uri="{FF2B5EF4-FFF2-40B4-BE49-F238E27FC236}">
                <a16:creationId xmlns:a16="http://schemas.microsoft.com/office/drawing/2014/main" id="{E5F3C36F-0A98-419B-A159-DD2D61D3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338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6253C"/>
                </a:solidFill>
              </a:defRPr>
            </a:pPr>
            <a:r>
              <a:rPr sz="1425" b="1" i="0">
                <a:solidFill>
                  <a:srgbClr val="16253C"/>
                </a:solidFill>
              </a:rPr>
              <a:t>In-world entities</a:t>
            </a:r>
          </a:p>
        </p:txBody>
      </p:sp>
      <p:sp>
        <p:nvSpPr>
          <p:cNvPr id="26" name="arch-use-3">
            <a:extLst xmlns:a="http://schemas.openxmlformats.org/drawingml/2006/main">
              <a:ext uri="{FF2B5EF4-FFF2-40B4-BE49-F238E27FC236}">
                <a16:creationId xmlns:a16="http://schemas.microsoft.com/office/drawing/2014/main" id="{73F98590-A663-4A80-9437-23F19737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38650"/>
            <a:ext cx="173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Bank, betting, retail and antagonist documents</a:t>
            </a:r>
          </a:p>
        </p:txBody>
      </p:sp>
      <p:sp>
        <p:nvSpPr>
          <p:cNvPr id="27" name="hierarchy-note">
            <a:extLst xmlns:a="http://schemas.openxmlformats.org/drawingml/2006/main">
              <a:ext uri="{FF2B5EF4-FFF2-40B4-BE49-F238E27FC236}">
                <a16:creationId xmlns:a16="http://schemas.microsoft.com/office/drawing/2014/main" id="{A95EBB8F-ADB3-4FC9-B264-6EA1F241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036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6253C"/>
                </a:solidFill>
              </a:defRPr>
            </a:pPr>
            <a:r>
              <a:rPr sz="1350" b="1" i="0">
                <a:solidFill>
                  <a:srgbClr val="16253C"/>
                </a:solidFill>
              </a:rPr>
              <a:t>Rule: only Station Aurora and MAPLE should behave like master brands. Other marks are story evidence.</a:t>
            </a:r>
          </a:p>
        </p:txBody>
      </p:sp>
    </p:spTree>
    <p:extLst>
      <p:ext uri="{BB962C8B-B14F-4D97-AF65-F5344CB8AC3E}">
        <p14:creationId xmlns:p14="http://schemas.microsoft.com/office/powerpoint/2010/main" val="4652295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">
            <a:extLst xmlns:a="http://schemas.openxmlformats.org/drawingml/2006/main">
              <a:ext uri="{FF2B5EF4-FFF2-40B4-BE49-F238E27FC236}">
                <a16:creationId xmlns:a16="http://schemas.microsoft.com/office/drawing/2014/main" id="{EFF5F1DF-DD7B-4BB6-B64D-601719FC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3C6030C-2767-4A38-8CA5-CE621DAA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FOUNDATION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A8C3BB-E6D1-49FF-9194-5860799A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Two colours carry the core identity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AFE475F-82C3-49D5-A3F4-DF285B68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186EE3C-042D-4372-BF66-FC0755CC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2CC16F1-2510-44C5-AF54-539D68AC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04</a:t>
            </a:r>
          </a:p>
        </p:txBody>
      </p:sp>
      <p:sp>
        <p:nvSpPr>
          <p:cNvPr id="7" name="navy-swatch">
            <a:extLst xmlns:a="http://schemas.openxmlformats.org/drawingml/2006/main">
              <a:ext uri="{FF2B5EF4-FFF2-40B4-BE49-F238E27FC236}">
                <a16:creationId xmlns:a16="http://schemas.microsoft.com/office/drawing/2014/main" id="{686F0D70-23A1-4139-BBF8-FF5BCF86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857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avy-name">
            <a:extLst xmlns:a="http://schemas.openxmlformats.org/drawingml/2006/main">
              <a:ext uri="{FF2B5EF4-FFF2-40B4-BE49-F238E27FC236}">
                <a16:creationId xmlns:a16="http://schemas.microsoft.com/office/drawing/2014/main" id="{0F334AD1-C368-4B50-8F30-96A4FECC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669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AURORA NAVY</a:t>
            </a:r>
          </a:p>
        </p:txBody>
      </p:sp>
      <p:sp>
        <p:nvSpPr>
          <p:cNvPr id="9" name="navy-hex">
            <a:extLst xmlns:a="http://schemas.openxmlformats.org/drawingml/2006/main">
              <a:ext uri="{FF2B5EF4-FFF2-40B4-BE49-F238E27FC236}">
                <a16:creationId xmlns:a16="http://schemas.microsoft.com/office/drawing/2014/main" id="{98B18D07-D441-4D95-A90A-4D5B3239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#16253C</a:t>
            </a:r>
          </a:p>
        </p:txBody>
      </p:sp>
      <p:sp>
        <p:nvSpPr>
          <p:cNvPr id="10" name="navy-use">
            <a:extLst xmlns:a="http://schemas.openxmlformats.org/drawingml/2006/main">
              <a:ext uri="{FF2B5EF4-FFF2-40B4-BE49-F238E27FC236}">
                <a16:creationId xmlns:a16="http://schemas.microsoft.com/office/drawing/2014/main" id="{0C82B1A7-2736-4798-B08F-58160FFA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E5F2"/>
                </a:solidFill>
              </a:defRPr>
            </a:pPr>
            <a:r>
              <a:rPr sz="1275" b="0" i="0">
                <a:solidFill>
                  <a:srgbClr val="D8E5F2"/>
                </a:solidFill>
              </a:rPr>
              <a:t>Authority • structure • night systems</a:t>
            </a:r>
          </a:p>
        </p:txBody>
      </p:sp>
      <p:sp>
        <p:nvSpPr>
          <p:cNvPr id="11" name="orange-swatch">
            <a:extLst xmlns:a="http://schemas.openxmlformats.org/drawingml/2006/main">
              <a:ext uri="{FF2B5EF4-FFF2-40B4-BE49-F238E27FC236}">
                <a16:creationId xmlns:a16="http://schemas.microsoft.com/office/drawing/2014/main" id="{09D44981-ABD8-4510-80CC-FC3CA0BC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504950"/>
            <a:ext cx="4857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range-name">
            <a:extLst xmlns:a="http://schemas.openxmlformats.org/drawingml/2006/main">
              <a:ext uri="{FF2B5EF4-FFF2-40B4-BE49-F238E27FC236}">
                <a16:creationId xmlns:a16="http://schemas.microsoft.com/office/drawing/2014/main" id="{E84F93D9-6FC3-476F-9A61-2DFD0511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EMERGENCY ORANGE</a:t>
            </a:r>
          </a:p>
        </p:txBody>
      </p:sp>
      <p:sp>
        <p:nvSpPr>
          <p:cNvPr id="13" name="orange-hex">
            <a:extLst xmlns:a="http://schemas.openxmlformats.org/drawingml/2006/main">
              <a:ext uri="{FF2B5EF4-FFF2-40B4-BE49-F238E27FC236}">
                <a16:creationId xmlns:a16="http://schemas.microsoft.com/office/drawing/2014/main" id="{2B99D951-2E98-47CD-85FD-0E1F0D9C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194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#A84420</a:t>
            </a:r>
          </a:p>
        </p:txBody>
      </p:sp>
      <p:sp>
        <p:nvSpPr>
          <p:cNvPr id="14" name="orange-use">
            <a:extLst xmlns:a="http://schemas.openxmlformats.org/drawingml/2006/main">
              <a:ext uri="{FF2B5EF4-FFF2-40B4-BE49-F238E27FC236}">
                <a16:creationId xmlns:a16="http://schemas.microsoft.com/office/drawing/2014/main" id="{18276F90-451F-4C09-9AEA-5EFE15F9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86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1DDD4"/>
                </a:solidFill>
              </a:defRPr>
            </a:pPr>
            <a:r>
              <a:rPr sz="1275" b="0" i="0">
                <a:solidFill>
                  <a:srgbClr val="F1DDD4"/>
                </a:solidFill>
              </a:rPr>
              <a:t>Action • warning • evidence anomaly</a:t>
            </a:r>
          </a:p>
        </p:txBody>
      </p:sp>
      <p:sp>
        <p:nvSpPr>
          <p:cNvPr id="15" name="label-Recommended supporting neutrals-72-500">
            <a:extLst xmlns:a="http://schemas.openxmlformats.org/drawingml/2006/main">
              <a:ext uri="{FF2B5EF4-FFF2-40B4-BE49-F238E27FC236}">
                <a16:creationId xmlns:a16="http://schemas.microsoft.com/office/drawing/2014/main" id="{FA5EE2AE-5665-4744-85F5-74EB449F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RECOMMENDED SUPPORTING NEUTRALS</a:t>
            </a:r>
          </a:p>
        </p:txBody>
      </p:sp>
      <p:sp>
        <p:nvSpPr>
          <p:cNvPr id="16" name="neutral-0">
            <a:extLst xmlns:a="http://schemas.openxmlformats.org/drawingml/2006/main">
              <a:ext uri="{FF2B5EF4-FFF2-40B4-BE49-F238E27FC236}">
                <a16:creationId xmlns:a16="http://schemas.microsoft.com/office/drawing/2014/main" id="{97E4015D-D53B-411C-98A2-4A4E2AC3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98A8"/>
            </a:solidFill>
            <a:prstDash val="solid"/>
          </a:ln>
        </p:spPr>
      </p:sp>
      <p:sp>
        <p:nvSpPr>
          <p:cNvPr id="17" name="neutral-name-0">
            <a:extLst xmlns:a="http://schemas.openxmlformats.org/drawingml/2006/main">
              <a:ext uri="{FF2B5EF4-FFF2-40B4-BE49-F238E27FC236}">
                <a16:creationId xmlns:a16="http://schemas.microsoft.com/office/drawing/2014/main" id="{C1B07642-5BB1-4499-BCBD-8ACBA2D9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202A3A"/>
                </a:solidFill>
              </a:defRPr>
            </a:pPr>
            <a:r>
              <a:rPr sz="825" b="0" i="0">
                <a:solidFill>
                  <a:srgbClr val="202A3A"/>
                </a:solidFill>
              </a:rPr>
              <a:t>WHITE</a:t>
            </a:r>
          </a:p>
        </p:txBody>
      </p:sp>
      <p:sp>
        <p:nvSpPr>
          <p:cNvPr id="18" name="neutral-1">
            <a:extLst xmlns:a="http://schemas.openxmlformats.org/drawingml/2006/main">
              <a:ext uri="{FF2B5EF4-FFF2-40B4-BE49-F238E27FC236}">
                <a16:creationId xmlns:a16="http://schemas.microsoft.com/office/drawing/2014/main" id="{E3B89C0D-8EAE-4513-B53D-8FF41302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105400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eutral-name-1">
            <a:extLst xmlns:a="http://schemas.openxmlformats.org/drawingml/2006/main">
              <a:ext uri="{FF2B5EF4-FFF2-40B4-BE49-F238E27FC236}">
                <a16:creationId xmlns:a16="http://schemas.microsoft.com/office/drawing/2014/main" id="{BB2F4A62-EF18-4991-9BF3-DE3A1324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7150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202A3A"/>
                </a:solidFill>
              </a:defRPr>
            </a:pPr>
            <a:r>
              <a:rPr sz="825" b="0" i="0">
                <a:solidFill>
                  <a:srgbClr val="202A3A"/>
                </a:solidFill>
              </a:rPr>
              <a:t>COOL PAPER</a:t>
            </a:r>
          </a:p>
        </p:txBody>
      </p:sp>
      <p:sp>
        <p:nvSpPr>
          <p:cNvPr id="20" name="neutral-2">
            <a:extLst xmlns:a="http://schemas.openxmlformats.org/drawingml/2006/main">
              <a:ext uri="{FF2B5EF4-FFF2-40B4-BE49-F238E27FC236}">
                <a16:creationId xmlns:a16="http://schemas.microsoft.com/office/drawing/2014/main" id="{49D285DC-0329-4A6F-845F-A4154C7A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eutral-name-2">
            <a:extLst xmlns:a="http://schemas.openxmlformats.org/drawingml/2006/main">
              <a:ext uri="{FF2B5EF4-FFF2-40B4-BE49-F238E27FC236}">
                <a16:creationId xmlns:a16="http://schemas.microsoft.com/office/drawing/2014/main" id="{6F1AE8B0-AC38-4ADA-A6FE-4301B382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150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202A3A"/>
                </a:solidFill>
              </a:defRPr>
            </a:pPr>
            <a:r>
              <a:rPr sz="825" b="0" i="0">
                <a:solidFill>
                  <a:srgbClr val="202A3A"/>
                </a:solidFill>
              </a:rPr>
              <a:t>DATA BLUE</a:t>
            </a:r>
          </a:p>
        </p:txBody>
      </p:sp>
      <p:sp>
        <p:nvSpPr>
          <p:cNvPr id="22" name="neutral-3">
            <a:extLst xmlns:a="http://schemas.openxmlformats.org/drawingml/2006/main">
              <a:ext uri="{FF2B5EF4-FFF2-40B4-BE49-F238E27FC236}">
                <a16:creationId xmlns:a16="http://schemas.microsoft.com/office/drawing/2014/main" id="{73A54D2C-F50D-4BBD-ADCD-EFF16C8E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05400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eutral-name-3">
            <a:extLst xmlns:a="http://schemas.openxmlformats.org/drawingml/2006/main">
              <a:ext uri="{FF2B5EF4-FFF2-40B4-BE49-F238E27FC236}">
                <a16:creationId xmlns:a16="http://schemas.microsoft.com/office/drawing/2014/main" id="{75CBE20C-3DD7-4DA0-B18E-A20C9D82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7150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202A3A"/>
                </a:solidFill>
              </a:defRPr>
            </a:pPr>
            <a:r>
              <a:rPr sz="825" b="0" i="0">
                <a:solidFill>
                  <a:srgbClr val="202A3A"/>
                </a:solidFill>
              </a:rPr>
              <a:t>ALERT TINT</a:t>
            </a:r>
          </a:p>
        </p:txBody>
      </p:sp>
      <p:sp>
        <p:nvSpPr>
          <p:cNvPr id="24" name="neutral-4">
            <a:extLst xmlns:a="http://schemas.openxmlformats.org/drawingml/2006/main">
              <a:ext uri="{FF2B5EF4-FFF2-40B4-BE49-F238E27FC236}">
                <a16:creationId xmlns:a16="http://schemas.microsoft.com/office/drawing/2014/main" id="{29D37B80-37CB-4096-BC38-47836973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05400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2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neutral-name-4">
            <a:extLst xmlns:a="http://schemas.openxmlformats.org/drawingml/2006/main">
              <a:ext uri="{FF2B5EF4-FFF2-40B4-BE49-F238E27FC236}">
                <a16:creationId xmlns:a16="http://schemas.microsoft.com/office/drawing/2014/main" id="{5F0B4BCC-0E58-4F9B-A2F5-36D97B00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7150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202A3A"/>
                </a:solidFill>
              </a:defRPr>
            </a:pPr>
            <a:r>
              <a:rPr sz="825" b="0" i="0">
                <a:solidFill>
                  <a:srgbClr val="202A3A"/>
                </a:solidFill>
              </a:rPr>
              <a:t>INK</a:t>
            </a:r>
          </a:p>
        </p:txBody>
      </p:sp>
    </p:spTree>
    <p:extLst>
      <p:ext uri="{BB962C8B-B14F-4D97-AF65-F5344CB8AC3E}">
        <p14:creationId xmlns:p14="http://schemas.microsoft.com/office/powerpoint/2010/main" val="1186264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">
            <a:extLst xmlns:a="http://schemas.openxmlformats.org/drawingml/2006/main">
              <a:ext uri="{FF2B5EF4-FFF2-40B4-BE49-F238E27FC236}">
                <a16:creationId xmlns:a16="http://schemas.microsoft.com/office/drawing/2014/main" id="{5F3F99F3-98DF-4E7A-A725-36E9DED3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C8CF5AE-C154-4D91-98C3-BCABDC3F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FOUNDATION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9191EE-C7AA-426D-A67E-F79929FB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Typography separates station voice from evidence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B07086-3618-4071-8BFA-9A0AE096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6FF9822-F9DB-43F4-B9E0-857D823A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3536776-91A6-450E-8AC1-B36A2349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05</a:t>
            </a:r>
          </a:p>
        </p:txBody>
      </p:sp>
      <p:sp>
        <p:nvSpPr>
          <p:cNvPr id="7" name="label-DISPLAY-72-154">
            <a:extLst xmlns:a="http://schemas.openxmlformats.org/drawingml/2006/main">
              <a:ext uri="{FF2B5EF4-FFF2-40B4-BE49-F238E27FC236}">
                <a16:creationId xmlns:a16="http://schemas.microsoft.com/office/drawing/2014/main" id="{C323E195-619F-4FF7-912D-CB562373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DISPLAY</a:t>
            </a:r>
          </a:p>
        </p:txBody>
      </p:sp>
      <p:sp>
        <p:nvSpPr>
          <p:cNvPr id="8" name="type-sample-0">
            <a:extLst xmlns:a="http://schemas.openxmlformats.org/drawingml/2006/main">
              <a:ext uri="{FF2B5EF4-FFF2-40B4-BE49-F238E27FC236}">
                <a16:creationId xmlns:a16="http://schemas.microsoft.com/office/drawing/2014/main" id="{854EFCD9-3F9D-427B-80B1-8BE2E7AC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4287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6253C"/>
                </a:solidFill>
              </a:defRPr>
            </a:pPr>
            <a:r>
              <a:rPr sz="2025" b="1" i="0">
                <a:solidFill>
                  <a:srgbClr val="16253C"/>
                </a:solidFill>
              </a:rPr>
              <a:t>ORBITRON EXTRABOLD</a:t>
            </a:r>
          </a:p>
        </p:txBody>
      </p:sp>
      <p:sp>
        <p:nvSpPr>
          <p:cNvPr id="9" name="type-use-0">
            <a:extLst xmlns:a="http://schemas.openxmlformats.org/drawingml/2006/main">
              <a:ext uri="{FF2B5EF4-FFF2-40B4-BE49-F238E27FC236}">
                <a16:creationId xmlns:a16="http://schemas.microsoft.com/office/drawing/2014/main" id="{83B9DF2E-969F-4253-AB34-AB3D1564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478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A3A"/>
                </a:solidFill>
              </a:defRPr>
            </a:pPr>
            <a:r>
              <a:rPr sz="1275" b="0" i="0">
                <a:solidFill>
                  <a:srgbClr val="202A3A"/>
                </a:solidFill>
              </a:rPr>
              <a:t>Station titles, key labels and dramatic system states</a:t>
            </a:r>
          </a:p>
        </p:txBody>
      </p:sp>
      <p:sp>
        <p:nvSpPr>
          <p:cNvPr id="10" name="type-rule-0">
            <a:extLst xmlns:a="http://schemas.openxmlformats.org/drawingml/2006/main">
              <a:ext uri="{FF2B5EF4-FFF2-40B4-BE49-F238E27FC236}">
                <a16:creationId xmlns:a16="http://schemas.microsoft.com/office/drawing/2014/main" id="{05CC70FA-387B-4574-A61C-8793C37A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1040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bel-SYSTEM-72-270">
            <a:extLst xmlns:a="http://schemas.openxmlformats.org/drawingml/2006/main">
              <a:ext uri="{FF2B5EF4-FFF2-40B4-BE49-F238E27FC236}">
                <a16:creationId xmlns:a16="http://schemas.microsoft.com/office/drawing/2014/main" id="{249AAC8A-B2DB-40F7-AB88-B1F39B94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SYSTEM</a:t>
            </a:r>
          </a:p>
        </p:txBody>
      </p:sp>
      <p:sp>
        <p:nvSpPr>
          <p:cNvPr id="12" name="type-sample-1">
            <a:extLst xmlns:a="http://schemas.openxmlformats.org/drawingml/2006/main">
              <a:ext uri="{FF2B5EF4-FFF2-40B4-BE49-F238E27FC236}">
                <a16:creationId xmlns:a16="http://schemas.microsoft.com/office/drawing/2014/main" id="{7FA1656E-8F69-43EB-975D-DACF070E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336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6253C"/>
                </a:solidFill>
              </a:defRPr>
            </a:pPr>
            <a:r>
              <a:rPr sz="1800" b="0" i="0">
                <a:solidFill>
                  <a:srgbClr val="16253C"/>
                </a:solidFill>
              </a:rPr>
              <a:t>ORBITRON</a:t>
            </a:r>
          </a:p>
        </p:txBody>
      </p:sp>
      <p:sp>
        <p:nvSpPr>
          <p:cNvPr id="13" name="type-use-1">
            <a:extLst xmlns:a="http://schemas.openxmlformats.org/drawingml/2006/main">
              <a:ext uri="{FF2B5EF4-FFF2-40B4-BE49-F238E27FC236}">
                <a16:creationId xmlns:a16="http://schemas.microsoft.com/office/drawing/2014/main" id="{03EA6623-3092-4470-924A-2410BC36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527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A3A"/>
                </a:solidFill>
              </a:defRPr>
            </a:pPr>
            <a:r>
              <a:rPr sz="1275" b="0" i="0">
                <a:solidFill>
                  <a:srgbClr val="202A3A"/>
                </a:solidFill>
              </a:rPr>
              <a:t>Navigation, short instructions, codes and crew-card labels</a:t>
            </a:r>
          </a:p>
        </p:txBody>
      </p:sp>
      <p:sp>
        <p:nvSpPr>
          <p:cNvPr id="14" name="type-rule-1">
            <a:extLst xmlns:a="http://schemas.openxmlformats.org/drawingml/2006/main">
              <a:ext uri="{FF2B5EF4-FFF2-40B4-BE49-F238E27FC236}">
                <a16:creationId xmlns:a16="http://schemas.microsoft.com/office/drawing/2014/main" id="{52A06725-23B6-45AE-8C4C-62243923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0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bel-OPERATIONAL-72-386">
            <a:extLst xmlns:a="http://schemas.openxmlformats.org/drawingml/2006/main">
              <a:ext uri="{FF2B5EF4-FFF2-40B4-BE49-F238E27FC236}">
                <a16:creationId xmlns:a16="http://schemas.microsoft.com/office/drawing/2014/main" id="{D55B9C89-8347-4455-9A1B-BD9A7A61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OPERATIONAL</a:t>
            </a:r>
          </a:p>
        </p:txBody>
      </p:sp>
      <p:sp>
        <p:nvSpPr>
          <p:cNvPr id="16" name="type-sample-2">
            <a:extLst xmlns:a="http://schemas.openxmlformats.org/drawingml/2006/main">
              <a:ext uri="{FF2B5EF4-FFF2-40B4-BE49-F238E27FC236}">
                <a16:creationId xmlns:a16="http://schemas.microsoft.com/office/drawing/2014/main" id="{62CADD37-9523-4F77-A3C3-43B228D1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385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6253C"/>
                </a:solidFill>
              </a:defRPr>
            </a:pPr>
            <a:r>
              <a:rPr sz="1800" b="0" i="0">
                <a:solidFill>
                  <a:srgbClr val="16253C"/>
                </a:solidFill>
              </a:rPr>
              <a:t>Aptos</a:t>
            </a:r>
          </a:p>
        </p:txBody>
      </p:sp>
      <p:sp>
        <p:nvSpPr>
          <p:cNvPr id="17" name="type-use-2">
            <a:extLst xmlns:a="http://schemas.openxmlformats.org/drawingml/2006/main">
              <a:ext uri="{FF2B5EF4-FFF2-40B4-BE49-F238E27FC236}">
                <a16:creationId xmlns:a16="http://schemas.microsoft.com/office/drawing/2014/main" id="{073DB068-40AA-4E52-96C4-F02B6F73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576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A3A"/>
                </a:solidFill>
              </a:defRPr>
            </a:pPr>
            <a:r>
              <a:rPr sz="1275" b="0" i="0">
                <a:solidFill>
                  <a:srgbClr val="202A3A"/>
                </a:solidFill>
              </a:rPr>
              <a:t>Briefings, records and longer reading</a:t>
            </a:r>
          </a:p>
        </p:txBody>
      </p:sp>
      <p:sp>
        <p:nvSpPr>
          <p:cNvPr id="18" name="type-rule-2">
            <a:extLst xmlns:a="http://schemas.openxmlformats.org/drawingml/2006/main">
              <a:ext uri="{FF2B5EF4-FFF2-40B4-BE49-F238E27FC236}">
                <a16:creationId xmlns:a16="http://schemas.microsoft.com/office/drawing/2014/main" id="{A2F7E36A-67BE-4BEF-9FE0-B819881E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040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label-DATA-72-502">
            <a:extLst xmlns:a="http://schemas.openxmlformats.org/drawingml/2006/main">
              <a:ext uri="{FF2B5EF4-FFF2-40B4-BE49-F238E27FC236}">
                <a16:creationId xmlns:a16="http://schemas.microsoft.com/office/drawing/2014/main" id="{D7086F79-A5BD-4901-A000-C2BF30A1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DATA</a:t>
            </a:r>
          </a:p>
        </p:txBody>
      </p:sp>
      <p:sp>
        <p:nvSpPr>
          <p:cNvPr id="20" name="type-sample-3">
            <a:extLst xmlns:a="http://schemas.openxmlformats.org/drawingml/2006/main">
              <a:ext uri="{FF2B5EF4-FFF2-40B4-BE49-F238E27FC236}">
                <a16:creationId xmlns:a16="http://schemas.microsoft.com/office/drawing/2014/main" id="{8BAE2FE3-2CDD-44D9-867F-4EA53300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434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6253C"/>
                </a:solidFill>
              </a:defRPr>
            </a:pPr>
            <a:r>
              <a:rPr sz="1800" b="0" i="0">
                <a:solidFill>
                  <a:srgbClr val="16253C"/>
                </a:solidFill>
              </a:rPr>
              <a:t>Aptos Mono 2912 / ORBIT</a:t>
            </a:r>
          </a:p>
        </p:txBody>
      </p:sp>
      <p:sp>
        <p:nvSpPr>
          <p:cNvPr id="21" name="type-use-3">
            <a:extLst xmlns:a="http://schemas.openxmlformats.org/drawingml/2006/main">
              <a:ext uri="{FF2B5EF4-FFF2-40B4-BE49-F238E27FC236}">
                <a16:creationId xmlns:a16="http://schemas.microsoft.com/office/drawing/2014/main" id="{17E07B66-9AC0-4AB8-A84F-FC03BBFD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625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A3A"/>
                </a:solidFill>
              </a:defRPr>
            </a:pPr>
            <a:r>
              <a:rPr sz="1275" b="0" i="0">
                <a:solidFill>
                  <a:srgbClr val="202A3A"/>
                </a:solidFill>
              </a:rPr>
              <a:t>Receipts, timestamps, keypad inputs and diagnostics</a:t>
            </a:r>
          </a:p>
        </p:txBody>
      </p:sp>
      <p:sp>
        <p:nvSpPr>
          <p:cNvPr id="22" name="type-rule-3">
            <a:extLst xmlns:a="http://schemas.openxmlformats.org/drawingml/2006/main">
              <a:ext uri="{FF2B5EF4-FFF2-40B4-BE49-F238E27FC236}">
                <a16:creationId xmlns:a16="http://schemas.microsoft.com/office/drawing/2014/main" id="{2407FC38-574A-4FE3-A1D6-75597F1B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40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ype-reserved">
            <a:extLst xmlns:a="http://schemas.openxmlformats.org/drawingml/2006/main">
              <a:ext uri="{FF2B5EF4-FFF2-40B4-BE49-F238E27FC236}">
                <a16:creationId xmlns:a16="http://schemas.microsoft.com/office/drawing/2014/main" id="{8DBBF26A-7EA9-466C-A15A-0CAC32ED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01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ype-reserved-copy">
            <a:extLst xmlns:a="http://schemas.openxmlformats.org/drawingml/2006/main">
              <a:ext uri="{FF2B5EF4-FFF2-40B4-BE49-F238E27FC236}">
                <a16:creationId xmlns:a16="http://schemas.microsoft.com/office/drawing/2014/main" id="{700750BA-534E-4A71-992C-E442CDA8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05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84420"/>
                </a:solidFill>
              </a:defRPr>
            </a:pPr>
            <a:r>
              <a:rPr sz="1200" b="1" i="0">
                <a:solidFill>
                  <a:srgbClr val="A84420"/>
                </a:solidFill>
              </a:rPr>
              <a:t>RESERVED: Dreaming Outloud Pro for rare handwriting. Choose one E.V.I.L. typeface before final production.</a:t>
            </a:r>
          </a:p>
        </p:txBody>
      </p:sp>
    </p:spTree>
    <p:extLst>
      <p:ext uri="{BB962C8B-B14F-4D97-AF65-F5344CB8AC3E}">
        <p14:creationId xmlns:p14="http://schemas.microsoft.com/office/powerpoint/2010/main" val="1118948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">
            <a:extLst xmlns:a="http://schemas.openxmlformats.org/drawingml/2006/main">
              <a:ext uri="{FF2B5EF4-FFF2-40B4-BE49-F238E27FC236}">
                <a16:creationId xmlns:a16="http://schemas.microsoft.com/office/drawing/2014/main" id="{FBFCAA49-4774-4A20-8835-A4D3FD92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EE5CB90-6E36-4DA5-9E61-F7F82DDD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MARKS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35C9FE-6E15-4BA3-9BEB-AD60B35C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Station Aurora owns the page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7817C9F-1854-4AD0-AB62-EBDD1557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7155867-B589-4B7E-AC6E-EC68190B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B4AE3B9-505B-4239-A9F6-2AAD0509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06</a:t>
            </a:r>
          </a:p>
        </p:txBody>
      </p:sp>
      <p:sp>
        <p:nvSpPr>
          <p:cNvPr id="7" name="logo-field">
            <a:extLst xmlns:a="http://schemas.openxmlformats.org/drawingml/2006/main">
              <a:ext uri="{FF2B5EF4-FFF2-40B4-BE49-F238E27FC236}">
                <a16:creationId xmlns:a16="http://schemas.microsoft.com/office/drawing/2014/main" id="{EF14135B-693E-4F8D-BDB8-0F94913B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7053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6a2e26a764d5e"/>
          <a:stretch xmlns:a="http://schemas.openxmlformats.org/drawingml/2006/main"/>
        </p:blipFill>
        <p:spPr>
          <a:xfrm xmlns:a="http://schemas.openxmlformats.org/drawingml/2006/main">
            <a:off x="1600200" y="1962150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logo-caption">
            <a:extLst xmlns:a="http://schemas.openxmlformats.org/drawingml/2006/main">
              <a:ext uri="{FF2B5EF4-FFF2-40B4-BE49-F238E27FC236}">
                <a16:creationId xmlns:a16="http://schemas.microsoft.com/office/drawing/2014/main" id="{B990548D-1E95-445A-970B-B1AF2598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015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PRIMARY PROJECT MARK</a:t>
            </a:r>
          </a:p>
        </p:txBody>
      </p:sp>
      <p:sp>
        <p:nvSpPr>
          <p:cNvPr id="10" name="label-Use-622-168">
            <a:extLst xmlns:a="http://schemas.openxmlformats.org/drawingml/2006/main">
              <a:ext uri="{FF2B5EF4-FFF2-40B4-BE49-F238E27FC236}">
                <a16:creationId xmlns:a16="http://schemas.microsoft.com/office/drawing/2014/main" id="{5F73F38D-5B24-4D98-8E50-7521BAE4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00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USE</a:t>
            </a:r>
          </a:p>
        </p:txBody>
      </p:sp>
      <p:sp>
        <p:nvSpPr>
          <p:cNvPr id="11" name="bullet-622-204">
            <a:extLst xmlns:a="http://schemas.openxmlformats.org/drawingml/2006/main">
              <a:ext uri="{FF2B5EF4-FFF2-40B4-BE49-F238E27FC236}">
                <a16:creationId xmlns:a16="http://schemas.microsoft.com/office/drawing/2014/main" id="{FD6D2DD1-34B1-43E1-BD1F-0644260F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431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• One clear primary mark per asset</a:t>
            </a:r>
          </a:p>
        </p:txBody>
      </p:sp>
      <p:sp>
        <p:nvSpPr>
          <p:cNvPr id="12" name="bullet-622-254">
            <a:extLst xmlns:a="http://schemas.openxmlformats.org/drawingml/2006/main">
              <a:ext uri="{FF2B5EF4-FFF2-40B4-BE49-F238E27FC236}">
                <a16:creationId xmlns:a16="http://schemas.microsoft.com/office/drawing/2014/main" id="{B034C02B-155A-427F-9537-41F22945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193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• Keep generous open space around the patch</a:t>
            </a:r>
          </a:p>
        </p:txBody>
      </p:sp>
      <p:sp>
        <p:nvSpPr>
          <p:cNvPr id="13" name="bullet-622-304">
            <a:extLst xmlns:a="http://schemas.openxmlformats.org/drawingml/2006/main">
              <a:ext uri="{FF2B5EF4-FFF2-40B4-BE49-F238E27FC236}">
                <a16:creationId xmlns:a16="http://schemas.microsoft.com/office/drawing/2014/main" id="{89724573-6EAE-4155-8792-5E4D7A2B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956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• Use MAPLE as issuer or parent agency</a:t>
            </a:r>
          </a:p>
        </p:txBody>
      </p:sp>
      <p:sp>
        <p:nvSpPr>
          <p:cNvPr id="14" name="label-Avoid-622-390">
            <a:extLst xmlns:a="http://schemas.openxmlformats.org/drawingml/2006/main">
              <a:ext uri="{FF2B5EF4-FFF2-40B4-BE49-F238E27FC236}">
                <a16:creationId xmlns:a16="http://schemas.microsoft.com/office/drawing/2014/main" id="{7B8782E4-6CAE-4F94-8D61-A631A353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AVOID</a:t>
            </a:r>
          </a:p>
        </p:txBody>
      </p:sp>
      <p:sp>
        <p:nvSpPr>
          <p:cNvPr id="15" name="bullet-622-426">
            <a:extLst xmlns:a="http://schemas.openxmlformats.org/drawingml/2006/main">
              <a:ext uri="{FF2B5EF4-FFF2-40B4-BE49-F238E27FC236}">
                <a16:creationId xmlns:a16="http://schemas.microsoft.com/office/drawing/2014/main" id="{92820954-A967-4A8F-AF48-00069D83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576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• Treating H.A.R.O.L.D. or E.V.I.L. as co-equal brands</a:t>
            </a:r>
          </a:p>
        </p:txBody>
      </p:sp>
      <p:sp>
        <p:nvSpPr>
          <p:cNvPr id="16" name="bullet-622-482">
            <a:extLst xmlns:a="http://schemas.openxmlformats.org/drawingml/2006/main">
              <a:ext uri="{FF2B5EF4-FFF2-40B4-BE49-F238E27FC236}">
                <a16:creationId xmlns:a16="http://schemas.microsoft.com/office/drawing/2014/main" id="{43B8085F-E658-4211-8F5A-7791C22F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910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• Placing the patch on busy imagery without contrast</a:t>
            </a:r>
          </a:p>
        </p:txBody>
      </p:sp>
      <p:sp>
        <p:nvSpPr>
          <p:cNvPr id="17" name="bullet-622-538">
            <a:extLst xmlns:a="http://schemas.openxmlformats.org/drawingml/2006/main">
              <a:ext uri="{FF2B5EF4-FFF2-40B4-BE49-F238E27FC236}">
                <a16:creationId xmlns:a16="http://schemas.microsoft.com/office/drawing/2014/main" id="{20886453-BE88-4D54-A376-83C5CD32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124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• Enlarging the current 102 px patch for large-format print</a:t>
            </a:r>
          </a:p>
        </p:txBody>
      </p:sp>
      <p:sp>
        <p:nvSpPr>
          <p:cNvPr id="18" name="logo-gap">
            <a:extLst xmlns:a="http://schemas.openxmlformats.org/drawingml/2006/main">
              <a:ext uri="{FF2B5EF4-FFF2-40B4-BE49-F238E27FC236}">
                <a16:creationId xmlns:a16="http://schemas.microsoft.com/office/drawing/2014/main" id="{374F04AD-EAE7-4090-A8FF-A8621E96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40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A84420"/>
                </a:solidFill>
              </a:defRPr>
            </a:pPr>
            <a:r>
              <a:rPr sz="1350" b="1" i="0">
                <a:solidFill>
                  <a:srgbClr val="A84420"/>
                </a:solidFill>
              </a:rPr>
              <a:t>Production gap: create a vector or high-resolution master of the Station Aurora patch.</a:t>
            </a:r>
          </a:p>
        </p:txBody>
      </p:sp>
    </p:spTree>
    <p:extLst>
      <p:ext uri="{BB962C8B-B14F-4D97-AF65-F5344CB8AC3E}">
        <p14:creationId xmlns:p14="http://schemas.microsoft.com/office/powerpoint/2010/main" val="17206171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">
            <a:extLst xmlns:a="http://schemas.openxmlformats.org/drawingml/2006/main">
              <a:ext uri="{FF2B5EF4-FFF2-40B4-BE49-F238E27FC236}">
                <a16:creationId xmlns:a16="http://schemas.microsoft.com/office/drawing/2014/main" id="{F733CEE5-0EFE-4DD2-9112-A1B9D20D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786AEAD-8933-4DEF-814B-F305358D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IMAGERY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646D33-8C3D-4895-89F2-0C61419C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Illustration should feel retro-futurist, not generic sci-fi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A9FBF4B-27E8-4610-BC39-52D9080D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9E03CCA-8498-4DB0-AC4B-925A8E0F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D7F3204-1E83-4541-893B-9F8EF5E2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07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43fec094a4f2f"/>
          <a:srcRect xmlns:a="http://schemas.openxmlformats.org/drawingml/2006/main" l="0" t="905" r="0" b="9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683895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world-side">
            <a:extLst xmlns:a="http://schemas.openxmlformats.org/drawingml/2006/main">
              <a:ext uri="{FF2B5EF4-FFF2-40B4-BE49-F238E27FC236}">
                <a16:creationId xmlns:a16="http://schemas.microsoft.com/office/drawing/2014/main" id="{C8CB3E30-8BBE-4725-9D69-A203C287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28750"/>
            <a:ext cx="3714750" cy="4476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bel-Keep-844-184">
            <a:extLst xmlns:a="http://schemas.openxmlformats.org/drawingml/2006/main">
              <a:ext uri="{FF2B5EF4-FFF2-40B4-BE49-F238E27FC236}">
                <a16:creationId xmlns:a16="http://schemas.microsoft.com/office/drawing/2014/main" id="{14BF0FE7-8100-43AB-A3DF-D248FC8F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526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KEEP</a:t>
            </a:r>
          </a:p>
        </p:txBody>
      </p:sp>
      <p:sp>
        <p:nvSpPr>
          <p:cNvPr id="10" name="bullet-844-222">
            <a:extLst xmlns:a="http://schemas.openxmlformats.org/drawingml/2006/main">
              <a:ext uri="{FF2B5EF4-FFF2-40B4-BE49-F238E27FC236}">
                <a16:creationId xmlns:a16="http://schemas.microsoft.com/office/drawing/2014/main" id="{CDF2EAC4-DBF4-4E85-A989-F4C0D67E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1455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Navy machinery with warm orange failure points</a:t>
            </a:r>
          </a:p>
        </p:txBody>
      </p:sp>
      <p:sp>
        <p:nvSpPr>
          <p:cNvPr id="11" name="bullet-844-294">
            <a:extLst xmlns:a="http://schemas.openxmlformats.org/drawingml/2006/main">
              <a:ext uri="{FF2B5EF4-FFF2-40B4-BE49-F238E27FC236}">
                <a16:creationId xmlns:a16="http://schemas.microsoft.com/office/drawing/2014/main" id="{AC6C9E8B-D35A-482D-A2C7-C381D1A6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035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Visible wear, paper texture and practical equipment</a:t>
            </a:r>
          </a:p>
        </p:txBody>
      </p:sp>
      <p:sp>
        <p:nvSpPr>
          <p:cNvPr id="12" name="bullet-844-366">
            <a:extLst xmlns:a="http://schemas.openxmlformats.org/drawingml/2006/main">
              <a:ext uri="{FF2B5EF4-FFF2-40B4-BE49-F238E27FC236}">
                <a16:creationId xmlns:a16="http://schemas.microsoft.com/office/drawing/2014/main" id="{5784526F-55D2-4CE7-9F03-CCF5C635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Canadian cues used as world-building, not decoration</a:t>
            </a:r>
          </a:p>
        </p:txBody>
      </p:sp>
      <p:sp>
        <p:nvSpPr>
          <p:cNvPr id="13" name="label-Avoid-844-464">
            <a:extLst xmlns:a="http://schemas.openxmlformats.org/drawingml/2006/main">
              <a:ext uri="{FF2B5EF4-FFF2-40B4-BE49-F238E27FC236}">
                <a16:creationId xmlns:a16="http://schemas.microsoft.com/office/drawing/2014/main" id="{ECAE44E4-9954-4896-BC75-6B52C784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196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AVOID</a:t>
            </a:r>
          </a:p>
        </p:txBody>
      </p:sp>
      <p:sp>
        <p:nvSpPr>
          <p:cNvPr id="14" name="bullet-844-500">
            <a:extLst xmlns:a="http://schemas.openxmlformats.org/drawingml/2006/main">
              <a:ext uri="{FF2B5EF4-FFF2-40B4-BE49-F238E27FC236}">
                <a16:creationId xmlns:a16="http://schemas.microsoft.com/office/drawing/2014/main" id="{FD3311A8-67EB-443E-8612-3F53BCCD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Neon cyberpunk palettes</a:t>
            </a:r>
          </a:p>
        </p:txBody>
      </p:sp>
      <p:sp>
        <p:nvSpPr>
          <p:cNvPr id="15" name="bullet-844-550">
            <a:extLst xmlns:a="http://schemas.openxmlformats.org/drawingml/2006/main">
              <a:ext uri="{FF2B5EF4-FFF2-40B4-BE49-F238E27FC236}">
                <a16:creationId xmlns:a16="http://schemas.microsoft.com/office/drawing/2014/main" id="{B5D51975-CFA2-445B-A4D6-855BACDC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38750"/>
            <a:ext cx="308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Photoreal and cartoon styles mixed in one asset</a:t>
            </a:r>
          </a:p>
        </p:txBody>
      </p:sp>
    </p:spTree>
    <p:extLst>
      <p:ext uri="{BB962C8B-B14F-4D97-AF65-F5344CB8AC3E}">
        <p14:creationId xmlns:p14="http://schemas.microsoft.com/office/powerpoint/2010/main" val="524086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ail">
            <a:extLst xmlns:a="http://schemas.openxmlformats.org/drawingml/2006/main">
              <a:ext uri="{FF2B5EF4-FFF2-40B4-BE49-F238E27FC236}">
                <a16:creationId xmlns:a16="http://schemas.microsoft.com/office/drawing/2014/main" id="{6FCF30A9-EE4A-4B97-8FD4-42148D8E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365C887-1403-4ACC-AC6A-3A4D3996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IMAGERY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25F07E-C79D-430D-B5C2-39E2E92E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Icons behave like station instrumentation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68B34F8-9641-40A2-B4F5-E6981F39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A9A5531-EABC-4DFF-9EB6-5D06E1F9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5686803-10A1-497D-B685-C6E2BAC2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08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8fe946f6243a2"/>
          <a:srcRect xmlns:a="http://schemas.openxmlformats.org/drawingml/2006/main" l="2381" t="0" r="23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5334000" cy="37338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99382ca354627"/>
          <a:stretch xmlns:a="http://schemas.openxmlformats.org/drawingml/2006/main"/>
        </p:blipFill>
        <p:spPr>
          <a:xfrm xmlns:a="http://schemas.openxmlformats.org/drawingml/2006/main">
            <a:off x="7067550" y="1638300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9" name="label-Rules-686-386">
            <a:extLst xmlns:a="http://schemas.openxmlformats.org/drawingml/2006/main">
              <a:ext uri="{FF2B5EF4-FFF2-40B4-BE49-F238E27FC236}">
                <a16:creationId xmlns:a16="http://schemas.microsoft.com/office/drawing/2014/main" id="{EC59FBBD-A19E-45FF-88A9-1D1B0066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76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RULES</a:t>
            </a:r>
          </a:p>
        </p:txBody>
      </p:sp>
      <p:sp>
        <p:nvSpPr>
          <p:cNvPr id="10" name="bullet-686-424">
            <a:extLst xmlns:a="http://schemas.openxmlformats.org/drawingml/2006/main">
              <a:ext uri="{FF2B5EF4-FFF2-40B4-BE49-F238E27FC236}">
                <a16:creationId xmlns:a16="http://schemas.microsoft.com/office/drawing/2014/main" id="{97398F69-7670-4741-ACE8-3279D9C4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386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• Use a single navy icon family for modules and controls</a:t>
            </a:r>
          </a:p>
        </p:txBody>
      </p:sp>
      <p:sp>
        <p:nvSpPr>
          <p:cNvPr id="11" name="bullet-686-478">
            <a:extLst xmlns:a="http://schemas.openxmlformats.org/drawingml/2006/main">
              <a:ext uri="{FF2B5EF4-FFF2-40B4-BE49-F238E27FC236}">
                <a16:creationId xmlns:a16="http://schemas.microsoft.com/office/drawing/2014/main" id="{0A14AF24-B927-4F50-BAE3-2532683C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529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• Keep icons flat, legible and printable in one colour</a:t>
            </a:r>
          </a:p>
        </p:txBody>
      </p:sp>
      <p:sp>
        <p:nvSpPr>
          <p:cNvPr id="12" name="bullet-686-532">
            <a:extLst xmlns:a="http://schemas.openxmlformats.org/drawingml/2006/main">
              <a:ext uri="{FF2B5EF4-FFF2-40B4-BE49-F238E27FC236}">
                <a16:creationId xmlns:a16="http://schemas.microsoft.com/office/drawing/2014/main" id="{42A42D3B-24E0-41B3-A326-FA584CC0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67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A3A"/>
                </a:solidFill>
              </a:defRPr>
            </a:pPr>
            <a:r>
              <a:rPr sz="1350" b="0" i="0">
                <a:solidFill>
                  <a:srgbClr val="202A3A"/>
                </a:solidFill>
              </a:rPr>
              <a:t>• Reserve orange for the active fault or required action</a:t>
            </a:r>
          </a:p>
        </p:txBody>
      </p:sp>
      <p:sp>
        <p:nvSpPr>
          <p:cNvPr id="13" name="icon-note">
            <a:extLst xmlns:a="http://schemas.openxmlformats.org/drawingml/2006/main">
              <a:ext uri="{FF2B5EF4-FFF2-40B4-BE49-F238E27FC236}">
                <a16:creationId xmlns:a16="http://schemas.microsoft.com/office/drawing/2014/main" id="{425EBB8A-F9A9-40DD-B2AB-70F2BB98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6253C"/>
                </a:solidFill>
              </a:defRPr>
            </a:pPr>
            <a:r>
              <a:rPr sz="1350" b="1" i="0">
                <a:solidFill>
                  <a:srgbClr val="16253C"/>
                </a:solidFill>
              </a:rPr>
              <a:t>H.A.R.O.L.D. is a character mark; module icons should remain simpler than the mascot.</a:t>
            </a:r>
          </a:p>
        </p:txBody>
      </p:sp>
    </p:spTree>
    <p:extLst>
      <p:ext uri="{BB962C8B-B14F-4D97-AF65-F5344CB8AC3E}">
        <p14:creationId xmlns:p14="http://schemas.microsoft.com/office/powerpoint/2010/main" val="2648683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552AE647-44C3-46A1-961B-A4E4E263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6F614EC-FA88-49B5-A99C-52F38A18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APPLICATIONS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717B9F-50E8-492A-B752-61E866B8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Props should look issued, handled and believable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18948E7-0479-4C30-B422-497227E1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043DAA2-FBAE-425A-A49E-F8657DC7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2B9534F-FC66-46AF-8445-749F3C73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09</a:t>
            </a:r>
          </a:p>
        </p:txBody>
      </p:sp>
      <p:sp>
        <p:nvSpPr>
          <p:cNvPr id="7" name="prop-frame-0">
            <a:extLst xmlns:a="http://schemas.openxmlformats.org/drawingml/2006/main">
              <a:ext uri="{FF2B5EF4-FFF2-40B4-BE49-F238E27FC236}">
                <a16:creationId xmlns:a16="http://schemas.microsoft.com/office/drawing/2014/main" id="{6FCA915C-41E2-47C4-A767-DB5B2268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381250" cy="34480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f5f66a7a746ff"/>
          <a:stretch xmlns:a="http://schemas.openxmlformats.org/drawingml/2006/main"/>
        </p:blipFill>
        <p:spPr>
          <a:xfrm xmlns:a="http://schemas.openxmlformats.org/drawingml/2006/main">
            <a:off x="914400" y="2065632"/>
            <a:ext cx="1924050" cy="1050336"/>
          </a:xfrm>
          <a:prstGeom xmlns:a="http://schemas.openxmlformats.org/drawingml/2006/main" prst="rect">
            <a:avLst/>
          </a:prstGeom>
        </p:spPr>
      </p:pic>
      <p:sp>
        <p:nvSpPr>
          <p:cNvPr id="9" name="label-RETAIL-94-382">
            <a:extLst xmlns:a="http://schemas.openxmlformats.org/drawingml/2006/main">
              <a:ext uri="{FF2B5EF4-FFF2-40B4-BE49-F238E27FC236}">
                <a16:creationId xmlns:a16="http://schemas.microsoft.com/office/drawing/2014/main" id="{4B9ECE5A-E96A-41C0-AECB-47DD952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RETAIL</a:t>
            </a:r>
          </a:p>
        </p:txBody>
      </p:sp>
      <p:sp>
        <p:nvSpPr>
          <p:cNvPr id="10" name="prop-rule-0">
            <a:extLst xmlns:a="http://schemas.openxmlformats.org/drawingml/2006/main">
              <a:ext uri="{FF2B5EF4-FFF2-40B4-BE49-F238E27FC236}">
                <a16:creationId xmlns:a16="http://schemas.microsoft.com/office/drawing/2014/main" id="{ADCE599D-81C2-4A26-95A2-B9BD1EAA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Thermal-paper tone, mono data, imperfect alignment</a:t>
            </a:r>
          </a:p>
        </p:txBody>
      </p:sp>
      <p:sp>
        <p:nvSpPr>
          <p:cNvPr id="11" name="prop-frame-1">
            <a:extLst xmlns:a="http://schemas.openxmlformats.org/drawingml/2006/main">
              <a:ext uri="{FF2B5EF4-FFF2-40B4-BE49-F238E27FC236}">
                <a16:creationId xmlns:a16="http://schemas.microsoft.com/office/drawing/2014/main" id="{0AF9A113-FE01-4172-B6F2-639C118A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24000"/>
            <a:ext cx="2381250" cy="34480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8b27cae304b37"/>
          <a:stretch xmlns:a="http://schemas.openxmlformats.org/drawingml/2006/main"/>
        </p:blipFill>
        <p:spPr>
          <a:xfrm xmlns:a="http://schemas.openxmlformats.org/drawingml/2006/main">
            <a:off x="3619500" y="2065632"/>
            <a:ext cx="1924050" cy="1050336"/>
          </a:xfrm>
          <a:prstGeom xmlns:a="http://schemas.openxmlformats.org/drawingml/2006/main" prst="rect">
            <a:avLst/>
          </a:prstGeom>
        </p:spPr>
      </p:pic>
      <p:sp>
        <p:nvSpPr>
          <p:cNvPr id="13" name="label-BETTING-378-382">
            <a:extLst xmlns:a="http://schemas.openxmlformats.org/drawingml/2006/main">
              <a:ext uri="{FF2B5EF4-FFF2-40B4-BE49-F238E27FC236}">
                <a16:creationId xmlns:a16="http://schemas.microsoft.com/office/drawing/2014/main" id="{B1E6F0BE-807A-429E-80F7-38715C95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385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BETTING</a:t>
            </a:r>
          </a:p>
        </p:txBody>
      </p:sp>
      <p:sp>
        <p:nvSpPr>
          <p:cNvPr id="14" name="prop-rule-1">
            <a:extLst xmlns:a="http://schemas.openxmlformats.org/drawingml/2006/main">
              <a:ext uri="{FF2B5EF4-FFF2-40B4-BE49-F238E27FC236}">
                <a16:creationId xmlns:a16="http://schemas.microsoft.com/office/drawing/2014/main" id="{4DBC5C00-1065-4070-8C96-AB35515D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0050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Distinct identities; restrained document layouts</a:t>
            </a:r>
          </a:p>
        </p:txBody>
      </p:sp>
      <p:sp>
        <p:nvSpPr>
          <p:cNvPr id="15" name="prop-frame-2">
            <a:extLst xmlns:a="http://schemas.openxmlformats.org/drawingml/2006/main">
              <a:ext uri="{FF2B5EF4-FFF2-40B4-BE49-F238E27FC236}">
                <a16:creationId xmlns:a16="http://schemas.microsoft.com/office/drawing/2014/main" id="{DBEB4F37-5FD1-4021-A860-312A29D7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2381250" cy="34480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2d2e455fd467d"/>
          <a:stretch xmlns:a="http://schemas.openxmlformats.org/drawingml/2006/main"/>
        </p:blipFill>
        <p:spPr>
          <a:xfrm xmlns:a="http://schemas.openxmlformats.org/drawingml/2006/main">
            <a:off x="6448425" y="17526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17" name="label-BANK-662-382">
            <a:extLst xmlns:a="http://schemas.openxmlformats.org/drawingml/2006/main">
              <a:ext uri="{FF2B5EF4-FFF2-40B4-BE49-F238E27FC236}">
                <a16:creationId xmlns:a16="http://schemas.microsoft.com/office/drawing/2014/main" id="{D1C2E542-D0E9-4578-BE39-B5EA4548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BANK</a:t>
            </a:r>
          </a:p>
        </p:txBody>
      </p:sp>
      <p:sp>
        <p:nvSpPr>
          <p:cNvPr id="18" name="prop-rule-2">
            <a:extLst xmlns:a="http://schemas.openxmlformats.org/drawingml/2006/main">
              <a:ext uri="{FF2B5EF4-FFF2-40B4-BE49-F238E27FC236}">
                <a16:creationId xmlns:a16="http://schemas.microsoft.com/office/drawing/2014/main" id="{1328E536-90E7-46FE-AD65-67EAE88E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Conservative typography and official spacing</a:t>
            </a:r>
          </a:p>
        </p:txBody>
      </p:sp>
      <p:sp>
        <p:nvSpPr>
          <p:cNvPr id="19" name="prop-frame-3">
            <a:extLst xmlns:a="http://schemas.openxmlformats.org/drawingml/2006/main">
              <a:ext uri="{FF2B5EF4-FFF2-40B4-BE49-F238E27FC236}">
                <a16:creationId xmlns:a16="http://schemas.microsoft.com/office/drawing/2014/main" id="{597D87AA-FC85-4E51-B11E-E8BD0FD0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24000"/>
            <a:ext cx="2381250" cy="34480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dee0a894145d4"/>
          <a:stretch xmlns:a="http://schemas.openxmlformats.org/drawingml/2006/main"/>
        </p:blipFill>
        <p:spPr>
          <a:xfrm xmlns:a="http://schemas.openxmlformats.org/drawingml/2006/main">
            <a:off x="9153525" y="17526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21" name="label-CORPORATE-946-382">
            <a:extLst xmlns:a="http://schemas.openxmlformats.org/drawingml/2006/main">
              <a:ext uri="{FF2B5EF4-FFF2-40B4-BE49-F238E27FC236}">
                <a16:creationId xmlns:a16="http://schemas.microsoft.com/office/drawing/2014/main" id="{559A59DC-69D8-469D-992E-D371C050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385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CORPORATE</a:t>
            </a:r>
          </a:p>
        </p:txBody>
      </p:sp>
      <p:sp>
        <p:nvSpPr>
          <p:cNvPr id="22" name="prop-rule-3">
            <a:extLst xmlns:a="http://schemas.openxmlformats.org/drawingml/2006/main">
              <a:ext uri="{FF2B5EF4-FFF2-40B4-BE49-F238E27FC236}">
                <a16:creationId xmlns:a16="http://schemas.microsoft.com/office/drawing/2014/main" id="{762B5FD8-C24F-4AF5-899D-17962430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0050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Cold, controlled and intentionally separate from Aurora</a:t>
            </a:r>
          </a:p>
        </p:txBody>
      </p:sp>
      <p:sp>
        <p:nvSpPr>
          <p:cNvPr id="23" name="prop-principle">
            <a:extLst xmlns:a="http://schemas.openxmlformats.org/drawingml/2006/main">
              <a:ext uri="{FF2B5EF4-FFF2-40B4-BE49-F238E27FC236}">
                <a16:creationId xmlns:a16="http://schemas.microsoft.com/office/drawing/2014/main" id="{B9494A05-AB74-490F-8EE6-5CAB45A6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1003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6253C"/>
                </a:solidFill>
              </a:defRPr>
            </a:pPr>
            <a:r>
              <a:rPr sz="1500" b="1" i="0">
                <a:solidFill>
                  <a:srgbClr val="16253C"/>
                </a:solidFill>
              </a:rPr>
              <a:t>Believability comes from hierarchy, spacing, dates, signatures and material—not from adding more decoration.</a:t>
            </a:r>
          </a:p>
        </p:txBody>
      </p:sp>
    </p:spTree>
    <p:extLst>
      <p:ext uri="{BB962C8B-B14F-4D97-AF65-F5344CB8AC3E}">
        <p14:creationId xmlns:p14="http://schemas.microsoft.com/office/powerpoint/2010/main" val="2208343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">
            <a:extLst xmlns:a="http://schemas.openxmlformats.org/drawingml/2006/main">
              <a:ext uri="{FF2B5EF4-FFF2-40B4-BE49-F238E27FC236}">
                <a16:creationId xmlns:a16="http://schemas.microsoft.com/office/drawing/2014/main" id="{88F78356-187D-4953-B671-ACA87C4E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5B1B68A-52D2-48ED-BC49-8B1F719E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APPLICATIONS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18F5C8-416A-4DBF-A92F-8A071413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Crew cards need one visual generation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F4D79CC-E5C0-4034-A537-5131D636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0271D39-D963-4465-9A26-4537C0ED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6443096-7C42-49E3-888F-8E16F6F5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10</a:t>
            </a:r>
          </a:p>
        </p:txBody>
      </p:sp>
      <p:sp>
        <p:nvSpPr>
          <p:cNvPr id="7" name="crew-bg-0">
            <a:extLst xmlns:a="http://schemas.openxmlformats.org/drawingml/2006/main">
              <a:ext uri="{FF2B5EF4-FFF2-40B4-BE49-F238E27FC236}">
                <a16:creationId xmlns:a16="http://schemas.microsoft.com/office/drawing/2014/main" id="{160D924D-0086-43A1-A24C-8F735F5B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2381250" cy="33718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ecb7838654e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1657350"/>
            <a:ext cx="2038350" cy="2038350"/>
          </a:xfrm>
          <a:prstGeom xmlns:a="http://schemas.openxmlformats.org/drawingml/2006/main" prst="rect">
            <a:avLst/>
          </a:prstGeom>
        </p:spPr>
      </p:pic>
      <p:sp>
        <p:nvSpPr>
          <p:cNvPr id="9" name="crew-name-0">
            <a:extLst xmlns:a="http://schemas.openxmlformats.org/drawingml/2006/main">
              <a:ext uri="{FF2B5EF4-FFF2-40B4-BE49-F238E27FC236}">
                <a16:creationId xmlns:a16="http://schemas.microsoft.com/office/drawing/2014/main" id="{9F6E0B9E-5D5C-47D8-9005-291F72BC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HELENA</a:t>
            </a:r>
          </a:p>
        </p:txBody>
      </p:sp>
      <p:sp>
        <p:nvSpPr>
          <p:cNvPr id="10" name="crew-state-0">
            <a:extLst xmlns:a="http://schemas.openxmlformats.org/drawingml/2006/main">
              <a:ext uri="{FF2B5EF4-FFF2-40B4-BE49-F238E27FC236}">
                <a16:creationId xmlns:a16="http://schemas.microsoft.com/office/drawing/2014/main" id="{274387B7-3FA5-4664-8C9F-3B985119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84420"/>
                </a:solidFill>
              </a:defRPr>
            </a:pPr>
            <a:r>
              <a:rPr sz="900" b="1" i="0">
                <a:solidFill>
                  <a:srgbClr val="A84420"/>
                </a:solidFill>
              </a:rPr>
              <a:t>USE</a:t>
            </a:r>
          </a:p>
        </p:txBody>
      </p:sp>
      <p:sp>
        <p:nvSpPr>
          <p:cNvPr id="11" name="crew-bg-1">
            <a:extLst xmlns:a="http://schemas.openxmlformats.org/drawingml/2006/main">
              <a:ext uri="{FF2B5EF4-FFF2-40B4-BE49-F238E27FC236}">
                <a16:creationId xmlns:a16="http://schemas.microsoft.com/office/drawing/2014/main" id="{CD83D4A3-2E83-47D9-9A29-35A318FE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85900"/>
            <a:ext cx="2381250" cy="33718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ee9ec0e9c4f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2350" y="1657350"/>
            <a:ext cx="2038350" cy="2038350"/>
          </a:xfrm>
          <a:prstGeom xmlns:a="http://schemas.openxmlformats.org/drawingml/2006/main" prst="rect">
            <a:avLst/>
          </a:prstGeom>
        </p:spPr>
      </p:pic>
      <p:sp>
        <p:nvSpPr>
          <p:cNvPr id="13" name="crew-name-1">
            <a:extLst xmlns:a="http://schemas.openxmlformats.org/drawingml/2006/main">
              <a:ext uri="{FF2B5EF4-FFF2-40B4-BE49-F238E27FC236}">
                <a16:creationId xmlns:a16="http://schemas.microsoft.com/office/drawing/2014/main" id="{09FE025E-8D80-4FB8-90E1-DAA82F4C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433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SARAH</a:t>
            </a:r>
          </a:p>
        </p:txBody>
      </p:sp>
      <p:sp>
        <p:nvSpPr>
          <p:cNvPr id="14" name="crew-state-1">
            <a:extLst xmlns:a="http://schemas.openxmlformats.org/drawingml/2006/main">
              <a:ext uri="{FF2B5EF4-FFF2-40B4-BE49-F238E27FC236}">
                <a16:creationId xmlns:a16="http://schemas.microsoft.com/office/drawing/2014/main" id="{1D4A649A-62FB-4AD4-8526-F82A6876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767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84420"/>
                </a:solidFill>
              </a:defRPr>
            </a:pPr>
            <a:r>
              <a:rPr sz="900" b="1" i="0">
                <a:solidFill>
                  <a:srgbClr val="A84420"/>
                </a:solidFill>
              </a:rPr>
              <a:t>USE</a:t>
            </a:r>
          </a:p>
        </p:txBody>
      </p:sp>
      <p:sp>
        <p:nvSpPr>
          <p:cNvPr id="15" name="crew-bg-2">
            <a:extLst xmlns:a="http://schemas.openxmlformats.org/drawingml/2006/main">
              <a:ext uri="{FF2B5EF4-FFF2-40B4-BE49-F238E27FC236}">
                <a16:creationId xmlns:a16="http://schemas.microsoft.com/office/drawing/2014/main" id="{92610C6B-6D2C-48B9-9180-F2FC80B3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85900"/>
            <a:ext cx="2381250" cy="33718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c72e30cc34e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657350"/>
            <a:ext cx="2038350" cy="2038350"/>
          </a:xfrm>
          <a:prstGeom xmlns:a="http://schemas.openxmlformats.org/drawingml/2006/main" prst="rect">
            <a:avLst/>
          </a:prstGeom>
        </p:spPr>
      </p:pic>
      <p:sp>
        <p:nvSpPr>
          <p:cNvPr id="17" name="crew-name-2">
            <a:extLst xmlns:a="http://schemas.openxmlformats.org/drawingml/2006/main">
              <a:ext uri="{FF2B5EF4-FFF2-40B4-BE49-F238E27FC236}">
                <a16:creationId xmlns:a16="http://schemas.microsoft.com/office/drawing/2014/main" id="{15F854A2-80A4-416B-8C73-7C7C356A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433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ALISTAIR — CURRENT</a:t>
            </a:r>
          </a:p>
        </p:txBody>
      </p:sp>
      <p:sp>
        <p:nvSpPr>
          <p:cNvPr id="18" name="crew-state-2">
            <a:extLst xmlns:a="http://schemas.openxmlformats.org/drawingml/2006/main">
              <a:ext uri="{FF2B5EF4-FFF2-40B4-BE49-F238E27FC236}">
                <a16:creationId xmlns:a16="http://schemas.microsoft.com/office/drawing/2014/main" id="{ACC63CEB-DC48-464C-BABB-7B360874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84420"/>
                </a:solidFill>
              </a:defRPr>
            </a:pPr>
            <a:r>
              <a:rPr sz="900" b="1" i="0">
                <a:solidFill>
                  <a:srgbClr val="A84420"/>
                </a:solidFill>
              </a:rPr>
              <a:t>USE</a:t>
            </a:r>
          </a:p>
        </p:txBody>
      </p:sp>
      <p:sp>
        <p:nvSpPr>
          <p:cNvPr id="19" name="crew-bg-3">
            <a:extLst xmlns:a="http://schemas.openxmlformats.org/drawingml/2006/main">
              <a:ext uri="{FF2B5EF4-FFF2-40B4-BE49-F238E27FC236}">
                <a16:creationId xmlns:a16="http://schemas.microsoft.com/office/drawing/2014/main" id="{BE74F104-2FA5-4F4D-BA72-D5F81654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85900"/>
            <a:ext cx="2381250" cy="33718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6c0a0fa9941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2550" y="1657350"/>
            <a:ext cx="2038350" cy="2038350"/>
          </a:xfrm>
          <a:prstGeom xmlns:a="http://schemas.openxmlformats.org/drawingml/2006/main" prst="rect">
            <a:avLst/>
          </a:prstGeom>
        </p:spPr>
      </p:pic>
      <p:sp>
        <p:nvSpPr>
          <p:cNvPr id="21" name="crew-name-3">
            <a:extLst xmlns:a="http://schemas.openxmlformats.org/drawingml/2006/main">
              <a:ext uri="{FF2B5EF4-FFF2-40B4-BE49-F238E27FC236}">
                <a16:creationId xmlns:a16="http://schemas.microsoft.com/office/drawing/2014/main" id="{7ED082F3-6A5B-4D2A-BE7A-81BE8C13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433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1DDD4"/>
                </a:solidFill>
              </a:defRPr>
            </a:pPr>
            <a:r>
              <a:rPr sz="1125" b="1" i="0">
                <a:solidFill>
                  <a:srgbClr val="F1DDD4"/>
                </a:solidFill>
              </a:rPr>
              <a:t>ALISTAIR — LEGACY</a:t>
            </a:r>
          </a:p>
        </p:txBody>
      </p:sp>
      <p:sp>
        <p:nvSpPr>
          <p:cNvPr id="22" name="crew-state-3">
            <a:extLst xmlns:a="http://schemas.openxmlformats.org/drawingml/2006/main">
              <a:ext uri="{FF2B5EF4-FFF2-40B4-BE49-F238E27FC236}">
                <a16:creationId xmlns:a16="http://schemas.microsoft.com/office/drawing/2014/main" id="{C93CE99D-9D25-4AD9-95C0-F758E53B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767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84420"/>
                </a:solidFill>
              </a:defRPr>
            </a:pPr>
            <a:r>
              <a:rPr sz="900" b="1" i="0">
                <a:solidFill>
                  <a:srgbClr val="A84420"/>
                </a:solidFill>
              </a:rPr>
              <a:t>ARCHIVE</a:t>
            </a:r>
          </a:p>
        </p:txBody>
      </p:sp>
      <p:sp>
        <p:nvSpPr>
          <p:cNvPr id="23" name="label-Standardize-72-546">
            <a:extLst xmlns:a="http://schemas.openxmlformats.org/drawingml/2006/main">
              <a:ext uri="{FF2B5EF4-FFF2-40B4-BE49-F238E27FC236}">
                <a16:creationId xmlns:a16="http://schemas.microsoft.com/office/drawing/2014/main" id="{DE2C5A78-9719-4742-BDDE-22160773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STANDARDIZE</a:t>
            </a:r>
          </a:p>
        </p:txBody>
      </p:sp>
      <p:sp>
        <p:nvSpPr>
          <p:cNvPr id="24" name="crew-rule">
            <a:extLst xmlns:a="http://schemas.openxmlformats.org/drawingml/2006/main">
              <a:ext uri="{FF2B5EF4-FFF2-40B4-BE49-F238E27FC236}">
                <a16:creationId xmlns:a16="http://schemas.microsoft.com/office/drawing/2014/main" id="{4DAE01B2-60B7-420C-88EE-46E50889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625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02A3A"/>
                </a:solidFill>
              </a:defRPr>
            </a:pPr>
            <a:r>
              <a:rPr sz="1500" b="0" i="0">
                <a:solidFill>
                  <a:srgbClr val="202A3A"/>
                </a:solidFill>
              </a:rPr>
              <a:t>Use one illustration style, one crop ratio, one data order and one date format across the active crew set.</a:t>
            </a:r>
          </a:p>
        </p:txBody>
      </p:sp>
    </p:spTree>
    <p:extLst>
      <p:ext uri="{BB962C8B-B14F-4D97-AF65-F5344CB8AC3E}">
        <p14:creationId xmlns:p14="http://schemas.microsoft.com/office/powerpoint/2010/main" val="15596955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">
            <a:extLst xmlns:a="http://schemas.openxmlformats.org/drawingml/2006/main">
              <a:ext uri="{FF2B5EF4-FFF2-40B4-BE49-F238E27FC236}">
                <a16:creationId xmlns:a16="http://schemas.microsoft.com/office/drawing/2014/main" id="{0A12379C-BCD7-48A4-BEFB-EE3AA972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8A98034-9685-436A-84E1-A8AC7305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APPLICATIONS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589717-801E-4BC6-AD82-395B1AEC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Digital screens should feel like the same station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592412A-FF4E-4630-8A53-A82059BE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A57B039-8A1F-4BAE-96F9-74DE8E94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A9ED8C5-644A-47E3-B083-9D512EF8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11</a:t>
            </a:r>
          </a:p>
        </p:txBody>
      </p:sp>
      <p:sp>
        <p:nvSpPr>
          <p:cNvPr id="7" name="terminal">
            <a:extLst xmlns:a="http://schemas.openxmlformats.org/drawingml/2006/main">
              <a:ext uri="{FF2B5EF4-FFF2-40B4-BE49-F238E27FC236}">
                <a16:creationId xmlns:a16="http://schemas.microsoft.com/office/drawing/2014/main" id="{520A060E-5523-4BCE-8CBE-52FB2A7C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23900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16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rminal-bar">
            <a:extLst xmlns:a="http://schemas.openxmlformats.org/drawingml/2006/main">
              <a:ext uri="{FF2B5EF4-FFF2-40B4-BE49-F238E27FC236}">
                <a16:creationId xmlns:a16="http://schemas.microsoft.com/office/drawing/2014/main" id="{E2198362-1A88-486F-8B85-727B3224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239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rminal-title">
            <a:extLst xmlns:a="http://schemas.openxmlformats.org/drawingml/2006/main">
              <a:ext uri="{FF2B5EF4-FFF2-40B4-BE49-F238E27FC236}">
                <a16:creationId xmlns:a16="http://schemas.microsoft.com/office/drawing/2014/main" id="{F81C16D8-F662-4872-A668-3A60B879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H.A.R.O.L.D.  //  COMMUNICATIONS</a:t>
            </a:r>
          </a:p>
        </p:txBody>
      </p:sp>
      <p:sp>
        <p:nvSpPr>
          <p:cNvPr id="10" name="terminal-copy">
            <a:extLst xmlns:a="http://schemas.openxmlformats.org/drawingml/2006/main">
              <a:ext uri="{FF2B5EF4-FFF2-40B4-BE49-F238E27FC236}">
                <a16:creationId xmlns:a16="http://schemas.microsoft.com/office/drawing/2014/main" id="{C126ED23-E42A-4CFF-86B7-25985257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619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&gt; SYSTEM DAMAGE DETECTED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&gt; AWAITING RECOVERY 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INPUT: ORBIT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COMMUNICATIONS RESTORED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NEXT MODULE AVAILABLE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be4a42f4046c8"/>
          <a:stretch xmlns:a="http://schemas.openxmlformats.org/drawingml/2006/main"/>
        </p:blipFill>
        <p:spPr>
          <a:xfrm xmlns:a="http://schemas.openxmlformats.org/drawingml/2006/main">
            <a:off x="8572500" y="1504950"/>
            <a:ext cx="2209800" cy="2209800"/>
          </a:xfrm>
          <a:prstGeom xmlns:a="http://schemas.openxmlformats.org/drawingml/2006/main" prst="rect">
            <a:avLst/>
          </a:prstGeom>
        </p:spPr>
      </p:pic>
      <p:sp>
        <p:nvSpPr>
          <p:cNvPr id="12" name="label-Interface rules-888-422">
            <a:extLst xmlns:a="http://schemas.openxmlformats.org/drawingml/2006/main">
              <a:ext uri="{FF2B5EF4-FFF2-40B4-BE49-F238E27FC236}">
                <a16:creationId xmlns:a16="http://schemas.microsoft.com/office/drawing/2014/main" id="{AA3AC686-5C21-4A9B-ACB5-84ADDFF4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INTERFACE RULES</a:t>
            </a:r>
          </a:p>
        </p:txBody>
      </p:sp>
      <p:sp>
        <p:nvSpPr>
          <p:cNvPr id="13" name="bullet-872-458">
            <a:extLst xmlns:a="http://schemas.openxmlformats.org/drawingml/2006/main">
              <a:ext uri="{FF2B5EF4-FFF2-40B4-BE49-F238E27FC236}">
                <a16:creationId xmlns:a16="http://schemas.microsoft.com/office/drawing/2014/main" id="{9128C94C-FC49-412D-BC99-4251BDFB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24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A3A"/>
                </a:solidFill>
              </a:defRPr>
            </a:pPr>
            <a:r>
              <a:rPr sz="1275" b="0" i="0">
                <a:solidFill>
                  <a:srgbClr val="202A3A"/>
                </a:solidFill>
              </a:rPr>
              <a:t>• Navy field, white data, orange active state</a:t>
            </a:r>
          </a:p>
        </p:txBody>
      </p:sp>
      <p:sp>
        <p:nvSpPr>
          <p:cNvPr id="14" name="bullet-872-510">
            <a:extLst xmlns:a="http://schemas.openxmlformats.org/drawingml/2006/main">
              <a:ext uri="{FF2B5EF4-FFF2-40B4-BE49-F238E27FC236}">
                <a16:creationId xmlns:a16="http://schemas.microsoft.com/office/drawing/2014/main" id="{B3CBE34A-C1A4-4962-86D5-80341094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A3A"/>
                </a:solidFill>
              </a:defRPr>
            </a:pPr>
            <a:r>
              <a:rPr sz="1275" b="0" i="0">
                <a:solidFill>
                  <a:srgbClr val="202A3A"/>
                </a:solidFill>
              </a:rPr>
              <a:t>• Short lines and visible system feedback</a:t>
            </a:r>
          </a:p>
        </p:txBody>
      </p:sp>
      <p:sp>
        <p:nvSpPr>
          <p:cNvPr id="15" name="bullet-872-562">
            <a:extLst xmlns:a="http://schemas.openxmlformats.org/drawingml/2006/main">
              <a:ext uri="{FF2B5EF4-FFF2-40B4-BE49-F238E27FC236}">
                <a16:creationId xmlns:a16="http://schemas.microsoft.com/office/drawing/2014/main" id="{8FFA3471-F61E-42E2-B43E-93FD25D2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530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A3A"/>
                </a:solidFill>
              </a:defRPr>
            </a:pPr>
            <a:r>
              <a:rPr sz="1275" b="0" i="0">
                <a:solidFill>
                  <a:srgbClr val="202A3A"/>
                </a:solidFill>
              </a:rPr>
              <a:t>• Never advance twice for a repeated code</a:t>
            </a:r>
          </a:p>
        </p:txBody>
      </p:sp>
    </p:spTree>
    <p:extLst>
      <p:ext uri="{BB962C8B-B14F-4D97-AF65-F5344CB8AC3E}">
        <p14:creationId xmlns:p14="http://schemas.microsoft.com/office/powerpoint/2010/main" val="20397909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ail">
            <a:extLst xmlns:a="http://schemas.openxmlformats.org/drawingml/2006/main">
              <a:ext uri="{FF2B5EF4-FFF2-40B4-BE49-F238E27FC236}">
                <a16:creationId xmlns:a16="http://schemas.microsoft.com/office/drawing/2014/main" id="{F84DF611-E585-4C93-AD68-83D464A5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E47B568-0275-4DDB-B8E0-BDECA543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PORTFOLIO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A1036E-EED6-410B-A2A0-43BF1DBC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The strongest imagery already shares one world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521A28B-BC3C-41F6-9CDC-C5D8008B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02243F7-C65A-43E0-AFF1-AEB36DE9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1AA350C-A6E3-4114-831E-182AA0A9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12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8d87a3a414b05"/>
          <a:srcRect xmlns:a="http://schemas.openxmlformats.org/drawingml/2006/main" l="9361" t="0" r="93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85900"/>
            <a:ext cx="5086350" cy="41719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936d6c39f4322"/>
          <a:srcRect xmlns:a="http://schemas.openxmlformats.org/drawingml/2006/main" l="6731" t="0" r="67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485900"/>
            <a:ext cx="2571750" cy="19812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644c17cea4dd2"/>
          <a:srcRect xmlns:a="http://schemas.openxmlformats.org/drawingml/2006/main" l="0" t="11481" r="0" b="11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1485900"/>
            <a:ext cx="2571750" cy="19812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e4d33477a4e82"/>
          <a:srcRect xmlns:a="http://schemas.openxmlformats.org/drawingml/2006/main" l="0" t="11481" r="0" b="11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676650"/>
            <a:ext cx="2571750" cy="19812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6e02b71ae435f"/>
          <a:srcRect xmlns:a="http://schemas.openxmlformats.org/drawingml/2006/main" l="0" t="11481" r="0" b="11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3676650"/>
            <a:ext cx="2571750" cy="1981200"/>
          </a:xfrm>
          <a:prstGeom xmlns:a="http://schemas.openxmlformats.org/drawingml/2006/main" prst="rect">
            <a:avLst/>
          </a:prstGeom>
        </p:spPr>
      </p:pic>
      <p:sp>
        <p:nvSpPr>
          <p:cNvPr id="12" name="portfolio-caption">
            <a:extLst xmlns:a="http://schemas.openxmlformats.org/drawingml/2006/main">
              <a:ext uri="{FF2B5EF4-FFF2-40B4-BE49-F238E27FC236}">
                <a16:creationId xmlns:a16="http://schemas.microsoft.com/office/drawing/2014/main" id="{79F20A18-CAA6-4BD4-9970-9909C39F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68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6253C"/>
                </a:solidFill>
              </a:defRPr>
            </a:pPr>
            <a:r>
              <a:rPr sz="1125" b="1" i="0">
                <a:solidFill>
                  <a:srgbClr val="16253C"/>
                </a:solidFill>
              </a:rPr>
              <a:t>Environment • technical diagram • crew illustration</a:t>
            </a:r>
          </a:p>
        </p:txBody>
      </p:sp>
    </p:spTree>
    <p:extLst>
      <p:ext uri="{BB962C8B-B14F-4D97-AF65-F5344CB8AC3E}">
        <p14:creationId xmlns:p14="http://schemas.microsoft.com/office/powerpoint/2010/main" val="7105569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">
            <a:extLst xmlns:a="http://schemas.openxmlformats.org/drawingml/2006/main">
              <a:ext uri="{FF2B5EF4-FFF2-40B4-BE49-F238E27FC236}">
                <a16:creationId xmlns:a16="http://schemas.microsoft.com/office/drawing/2014/main" id="{75127E72-5599-4D8B-A5A2-57A57BB2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DEF4175-C7ED-42DA-8C4D-4059D98A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PORTFOLIO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2483E5-A465-409B-A401-15B642A1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The mark library supports both authority and misdirection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8AF840E-C473-4EE6-81C3-0A905995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0461A8C-2434-4E6B-AD8E-54C2B117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5E5F2EE-9812-4462-96FE-F08220D9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13</a:t>
            </a:r>
          </a:p>
        </p:txBody>
      </p:sp>
      <p:sp>
        <p:nvSpPr>
          <p:cNvPr id="7" name="mark-bg-0">
            <a:extLst xmlns:a="http://schemas.openxmlformats.org/drawingml/2006/main">
              <a:ext uri="{FF2B5EF4-FFF2-40B4-BE49-F238E27FC236}">
                <a16:creationId xmlns:a16="http://schemas.microsoft.com/office/drawing/2014/main" id="{2B122B08-9822-44DA-8074-BF5115F2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aa54a387343ad"/>
          <a:stretch xmlns:a="http://schemas.openxmlformats.org/drawingml/2006/main"/>
        </p:blipFill>
        <p:spPr>
          <a:xfrm xmlns:a="http://schemas.openxmlformats.org/drawingml/2006/main">
            <a:off x="1304925" y="163830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9" name="mark-name-0">
            <a:extLst xmlns:a="http://schemas.openxmlformats.org/drawingml/2006/main">
              <a:ext uri="{FF2B5EF4-FFF2-40B4-BE49-F238E27FC236}">
                <a16:creationId xmlns:a16="http://schemas.microsoft.com/office/drawing/2014/main" id="{E889CF9A-E484-4CBB-89BC-CCF7E0F2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253C"/>
                </a:solidFill>
              </a:defRPr>
            </a:pPr>
            <a:r>
              <a:rPr sz="900" b="1" i="0">
                <a:solidFill>
                  <a:srgbClr val="16253C"/>
                </a:solidFill>
              </a:rPr>
              <a:t>AURORA</a:t>
            </a:r>
          </a:p>
        </p:txBody>
      </p:sp>
      <p:sp>
        <p:nvSpPr>
          <p:cNvPr id="10" name="mark-bg-1">
            <a:extLst xmlns:a="http://schemas.openxmlformats.org/drawingml/2006/main">
              <a:ext uri="{FF2B5EF4-FFF2-40B4-BE49-F238E27FC236}">
                <a16:creationId xmlns:a16="http://schemas.microsoft.com/office/drawing/2014/main" id="{E9390759-1C7F-4ADC-98CF-23CEDBF9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0495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235641cc44a40"/>
          <a:stretch xmlns:a="http://schemas.openxmlformats.org/drawingml/2006/main"/>
        </p:blipFill>
        <p:spPr>
          <a:xfrm xmlns:a="http://schemas.openxmlformats.org/drawingml/2006/main">
            <a:off x="3724275" y="1742554"/>
            <a:ext cx="1714500" cy="934491"/>
          </a:xfrm>
          <a:prstGeom xmlns:a="http://schemas.openxmlformats.org/drawingml/2006/main" prst="rect">
            <a:avLst/>
          </a:prstGeom>
        </p:spPr>
      </p:pic>
      <p:sp>
        <p:nvSpPr>
          <p:cNvPr id="12" name="mark-name-1">
            <a:extLst xmlns:a="http://schemas.openxmlformats.org/drawingml/2006/main">
              <a:ext uri="{FF2B5EF4-FFF2-40B4-BE49-F238E27FC236}">
                <a16:creationId xmlns:a16="http://schemas.microsoft.com/office/drawing/2014/main" id="{8B328940-C707-4763-B9B1-85EA8719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253C"/>
                </a:solidFill>
              </a:defRPr>
            </a:pPr>
            <a:r>
              <a:rPr sz="900" b="1" i="0">
                <a:solidFill>
                  <a:srgbClr val="16253C"/>
                </a:solidFill>
              </a:rPr>
              <a:t>MAPLE</a:t>
            </a:r>
          </a:p>
        </p:txBody>
      </p:sp>
      <p:sp>
        <p:nvSpPr>
          <p:cNvPr id="13" name="mark-bg-2">
            <a:extLst xmlns:a="http://schemas.openxmlformats.org/drawingml/2006/main">
              <a:ext uri="{FF2B5EF4-FFF2-40B4-BE49-F238E27FC236}">
                <a16:creationId xmlns:a16="http://schemas.microsoft.com/office/drawing/2014/main" id="{366CEE9C-30A0-4622-B7D0-9C8F257A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1b37321ca44fc"/>
          <a:stretch xmlns:a="http://schemas.openxmlformats.org/drawingml/2006/main"/>
        </p:blipFill>
        <p:spPr>
          <a:xfrm xmlns:a="http://schemas.openxmlformats.org/drawingml/2006/main">
            <a:off x="6715125" y="163830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5" name="mark-name-2">
            <a:extLst xmlns:a="http://schemas.openxmlformats.org/drawingml/2006/main">
              <a:ext uri="{FF2B5EF4-FFF2-40B4-BE49-F238E27FC236}">
                <a16:creationId xmlns:a16="http://schemas.microsoft.com/office/drawing/2014/main" id="{53A2182D-1E52-4191-87F8-4E3A8016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253C"/>
                </a:solidFill>
              </a:defRPr>
            </a:pPr>
            <a:r>
              <a:rPr sz="900" b="1" i="0">
                <a:solidFill>
                  <a:srgbClr val="16253C"/>
                </a:solidFill>
              </a:rPr>
              <a:t>H.A.R.O.L.D.</a:t>
            </a:r>
          </a:p>
        </p:txBody>
      </p:sp>
      <p:sp>
        <p:nvSpPr>
          <p:cNvPr id="16" name="mark-bg-3">
            <a:extLst xmlns:a="http://schemas.openxmlformats.org/drawingml/2006/main">
              <a:ext uri="{FF2B5EF4-FFF2-40B4-BE49-F238E27FC236}">
                <a16:creationId xmlns:a16="http://schemas.microsoft.com/office/drawing/2014/main" id="{24B1EDC6-7553-4329-AC54-C293F4F9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0495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7c06d3e714fe5"/>
          <a:stretch xmlns:a="http://schemas.openxmlformats.org/drawingml/2006/main"/>
        </p:blipFill>
        <p:spPr>
          <a:xfrm xmlns:a="http://schemas.openxmlformats.org/drawingml/2006/main">
            <a:off x="9420225" y="163830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8" name="mark-name-3">
            <a:extLst xmlns:a="http://schemas.openxmlformats.org/drawingml/2006/main">
              <a:ext uri="{FF2B5EF4-FFF2-40B4-BE49-F238E27FC236}">
                <a16:creationId xmlns:a16="http://schemas.microsoft.com/office/drawing/2014/main" id="{9A18764F-7548-4F31-89C8-03990D18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253C"/>
                </a:solidFill>
              </a:defRPr>
            </a:pPr>
            <a:r>
              <a:rPr sz="900" b="1" i="0">
                <a:solidFill>
                  <a:srgbClr val="16253C"/>
                </a:solidFill>
              </a:rPr>
              <a:t>E.V.I.L.</a:t>
            </a:r>
          </a:p>
        </p:txBody>
      </p:sp>
      <p:sp>
        <p:nvSpPr>
          <p:cNvPr id="19" name="mark-bg-4">
            <a:extLst xmlns:a="http://schemas.openxmlformats.org/drawingml/2006/main">
              <a:ext uri="{FF2B5EF4-FFF2-40B4-BE49-F238E27FC236}">
                <a16:creationId xmlns:a16="http://schemas.microsoft.com/office/drawing/2014/main" id="{4044561E-7FDE-4A1B-9E19-29955B4C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d17410a194786"/>
          <a:stretch xmlns:a="http://schemas.openxmlformats.org/drawingml/2006/main"/>
        </p:blipFill>
        <p:spPr>
          <a:xfrm xmlns:a="http://schemas.openxmlformats.org/drawingml/2006/main">
            <a:off x="1304925" y="371475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21" name="mark-name-4">
            <a:extLst xmlns:a="http://schemas.openxmlformats.org/drawingml/2006/main">
              <a:ext uri="{FF2B5EF4-FFF2-40B4-BE49-F238E27FC236}">
                <a16:creationId xmlns:a16="http://schemas.microsoft.com/office/drawing/2014/main" id="{0D3EB2EC-E03F-47B8-BE2E-751158C3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253C"/>
                </a:solidFill>
              </a:defRPr>
            </a:pPr>
            <a:r>
              <a:rPr sz="900" b="1" i="0">
                <a:solidFill>
                  <a:srgbClr val="16253C"/>
                </a:solidFill>
              </a:rPr>
              <a:t>B.A.D.</a:t>
            </a:r>
          </a:p>
        </p:txBody>
      </p:sp>
      <p:sp>
        <p:nvSpPr>
          <p:cNvPr id="22" name="mark-bg-5">
            <a:extLst xmlns:a="http://schemas.openxmlformats.org/drawingml/2006/main">
              <a:ext uri="{FF2B5EF4-FFF2-40B4-BE49-F238E27FC236}">
                <a16:creationId xmlns:a16="http://schemas.microsoft.com/office/drawing/2014/main" id="{1AE0BB59-453C-4461-955C-36ACF225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8140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595b5b6014ff7"/>
          <a:stretch xmlns:a="http://schemas.openxmlformats.org/drawingml/2006/main"/>
        </p:blipFill>
        <p:spPr>
          <a:xfrm xmlns:a="http://schemas.openxmlformats.org/drawingml/2006/main">
            <a:off x="4010025" y="371475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24" name="mark-name-5">
            <a:extLst xmlns:a="http://schemas.openxmlformats.org/drawingml/2006/main">
              <a:ext uri="{FF2B5EF4-FFF2-40B4-BE49-F238E27FC236}">
                <a16:creationId xmlns:a16="http://schemas.microsoft.com/office/drawing/2014/main" id="{ED657440-F647-4A71-8113-214F87B8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530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253C"/>
                </a:solidFill>
              </a:defRPr>
            </a:pPr>
            <a:r>
              <a:rPr sz="900" b="1" i="0">
                <a:solidFill>
                  <a:srgbClr val="16253C"/>
                </a:solidFill>
              </a:rPr>
              <a:t>B.A.D. ALT</a:t>
            </a:r>
          </a:p>
        </p:txBody>
      </p:sp>
      <p:sp>
        <p:nvSpPr>
          <p:cNvPr id="25" name="mark-bg-6">
            <a:extLst xmlns:a="http://schemas.openxmlformats.org/drawingml/2006/main">
              <a:ext uri="{FF2B5EF4-FFF2-40B4-BE49-F238E27FC236}">
                <a16:creationId xmlns:a16="http://schemas.microsoft.com/office/drawing/2014/main" id="{1B867EE5-43FC-48D6-919A-0584F93E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06eea8c2f45d4"/>
          <a:stretch xmlns:a="http://schemas.openxmlformats.org/drawingml/2006/main"/>
        </p:blipFill>
        <p:spPr>
          <a:xfrm xmlns:a="http://schemas.openxmlformats.org/drawingml/2006/main">
            <a:off x="6429375" y="3818279"/>
            <a:ext cx="1714500" cy="935943"/>
          </a:xfrm>
          <a:prstGeom xmlns:a="http://schemas.openxmlformats.org/drawingml/2006/main" prst="rect">
            <a:avLst/>
          </a:prstGeom>
        </p:spPr>
      </p:pic>
      <p:sp>
        <p:nvSpPr>
          <p:cNvPr id="27" name="mark-name-6">
            <a:extLst xmlns:a="http://schemas.openxmlformats.org/drawingml/2006/main">
              <a:ext uri="{FF2B5EF4-FFF2-40B4-BE49-F238E27FC236}">
                <a16:creationId xmlns:a16="http://schemas.microsoft.com/office/drawing/2014/main" id="{E79C72A0-C174-4457-9BAE-706D52E2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530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253C"/>
                </a:solidFill>
              </a:defRPr>
            </a:pPr>
            <a:r>
              <a:rPr sz="900" b="1" i="0">
                <a:solidFill>
                  <a:srgbClr val="16253C"/>
                </a:solidFill>
              </a:rPr>
              <a:t>FISH &amp; NUTS</a:t>
            </a:r>
          </a:p>
        </p:txBody>
      </p:sp>
      <p:sp>
        <p:nvSpPr>
          <p:cNvPr id="28" name="mark-bg-7">
            <a:extLst xmlns:a="http://schemas.openxmlformats.org/drawingml/2006/main">
              <a:ext uri="{FF2B5EF4-FFF2-40B4-BE49-F238E27FC236}">
                <a16:creationId xmlns:a16="http://schemas.microsoft.com/office/drawing/2014/main" id="{0452677C-8F9D-4E5E-A1EB-937B599D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8140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4fadaff334d32"/>
          <a:stretch xmlns:a="http://schemas.openxmlformats.org/drawingml/2006/main"/>
        </p:blipFill>
        <p:spPr>
          <a:xfrm xmlns:a="http://schemas.openxmlformats.org/drawingml/2006/main">
            <a:off x="9134475" y="3818279"/>
            <a:ext cx="1714500" cy="935943"/>
          </a:xfrm>
          <a:prstGeom xmlns:a="http://schemas.openxmlformats.org/drawingml/2006/main" prst="rect">
            <a:avLst/>
          </a:prstGeom>
        </p:spPr>
      </p:pic>
      <p:sp>
        <p:nvSpPr>
          <p:cNvPr id="30" name="mark-name-7">
            <a:extLst xmlns:a="http://schemas.openxmlformats.org/drawingml/2006/main">
              <a:ext uri="{FF2B5EF4-FFF2-40B4-BE49-F238E27FC236}">
                <a16:creationId xmlns:a16="http://schemas.microsoft.com/office/drawing/2014/main" id="{311B2427-E1A7-4BF5-8375-ED9E5A77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530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253C"/>
                </a:solidFill>
              </a:defRPr>
            </a:pPr>
            <a:r>
              <a:rPr sz="900" b="1" i="0">
                <a:solidFill>
                  <a:srgbClr val="16253C"/>
                </a:solidFill>
              </a:rPr>
              <a:t>BETTING</a:t>
            </a:r>
          </a:p>
        </p:txBody>
      </p:sp>
      <p:sp>
        <p:nvSpPr>
          <p:cNvPr id="31" name="marks-note">
            <a:extLst xmlns:a="http://schemas.openxmlformats.org/drawingml/2006/main">
              <a:ext uri="{FF2B5EF4-FFF2-40B4-BE49-F238E27FC236}">
                <a16:creationId xmlns:a16="http://schemas.microsoft.com/office/drawing/2014/main" id="{9B529D4E-58A1-41C0-A3BE-E54D32C3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A84420"/>
                </a:solidFill>
              </a:defRPr>
            </a:pPr>
            <a:r>
              <a:rPr sz="1350" b="1" i="0">
                <a:solidFill>
                  <a:srgbClr val="A84420"/>
                </a:solidFill>
              </a:rPr>
              <a:t>Keep alternates only when they serve a defined clue or production need; otherwise archive them.</a:t>
            </a:r>
          </a:p>
        </p:txBody>
      </p:sp>
    </p:spTree>
    <p:extLst>
      <p:ext uri="{BB962C8B-B14F-4D97-AF65-F5344CB8AC3E}">
        <p14:creationId xmlns:p14="http://schemas.microsoft.com/office/powerpoint/2010/main" val="2365797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-rail">
            <a:extLst xmlns:a="http://schemas.openxmlformats.org/drawingml/2006/main">
              <a:ext uri="{FF2B5EF4-FFF2-40B4-BE49-F238E27FC236}">
                <a16:creationId xmlns:a16="http://schemas.microsoft.com/office/drawing/2014/main" id="{ABA2CDE1-DC25-4AF2-A10A-69BEA17D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1AF8857-DDCD-4D94-97AB-6912F62A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GOVERNANCE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1F5C65-F1D2-4CAE-B32C-791D7ACF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The remaining design debt is specific and manageable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41AC81C-44CA-4541-8574-26BF129A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661BEF4-00B0-45E6-8A4C-79F11152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D256083-29D6-4AC2-83FA-0D7855D1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14</a:t>
            </a:r>
          </a:p>
        </p:txBody>
      </p:sp>
      <p:sp>
        <p:nvSpPr>
          <p:cNvPr id="7" name="label-Priority-72-152">
            <a:extLst xmlns:a="http://schemas.openxmlformats.org/drawingml/2006/main">
              <a:ext uri="{FF2B5EF4-FFF2-40B4-BE49-F238E27FC236}">
                <a16:creationId xmlns:a16="http://schemas.microsoft.com/office/drawing/2014/main" id="{2AB06F3D-F0C2-4722-8A8B-A666DC1F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PRIORITY</a:t>
            </a:r>
          </a:p>
        </p:txBody>
      </p:sp>
      <p:sp>
        <p:nvSpPr>
          <p:cNvPr id="8" name="label-Decision-188-152">
            <a:extLst xmlns:a="http://schemas.openxmlformats.org/drawingml/2006/main">
              <a:ext uri="{FF2B5EF4-FFF2-40B4-BE49-F238E27FC236}">
                <a16:creationId xmlns:a16="http://schemas.microsoft.com/office/drawing/2014/main" id="{EC250810-6139-4419-B8A9-DFF7E89E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447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DECISION</a:t>
            </a:r>
          </a:p>
        </p:txBody>
      </p:sp>
      <p:sp>
        <p:nvSpPr>
          <p:cNvPr id="9" name="label-Current issue-468-152">
            <a:extLst xmlns:a="http://schemas.openxmlformats.org/drawingml/2006/main">
              <a:ext uri="{FF2B5EF4-FFF2-40B4-BE49-F238E27FC236}">
                <a16:creationId xmlns:a16="http://schemas.microsoft.com/office/drawing/2014/main" id="{2B4F1E48-DC48-47A7-BD10-ADD23273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47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CURRENT ISSUE</a:t>
            </a:r>
          </a:p>
        </p:txBody>
      </p:sp>
      <p:sp>
        <p:nvSpPr>
          <p:cNvPr id="10" name="label-Resolution-790-152">
            <a:extLst xmlns:a="http://schemas.openxmlformats.org/drawingml/2006/main">
              <a:ext uri="{FF2B5EF4-FFF2-40B4-BE49-F238E27FC236}">
                <a16:creationId xmlns:a16="http://schemas.microsoft.com/office/drawing/2014/main" id="{C7211C0D-429B-430B-9281-82D3A865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478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RESOLUTION</a:t>
            </a:r>
          </a:p>
        </p:txBody>
      </p:sp>
      <p:sp>
        <p:nvSpPr>
          <p:cNvPr id="11" name="debt-row-0">
            <a:extLst xmlns:a="http://schemas.openxmlformats.org/drawingml/2006/main">
              <a:ext uri="{FF2B5EF4-FFF2-40B4-BE49-F238E27FC236}">
                <a16:creationId xmlns:a16="http://schemas.microsoft.com/office/drawing/2014/main" id="{7E7C3725-0566-46CF-9E0F-36B3065F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01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bt-p-0">
            <a:extLst xmlns:a="http://schemas.openxmlformats.org/drawingml/2006/main">
              <a:ext uri="{FF2B5EF4-FFF2-40B4-BE49-F238E27FC236}">
                <a16:creationId xmlns:a16="http://schemas.microsoft.com/office/drawing/2014/main" id="{C6ADEFDC-51B9-407E-9E08-53E82873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90725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84420"/>
                </a:solidFill>
              </a:defRPr>
            </a:pPr>
            <a:r>
              <a:rPr sz="1200" b="1" i="0">
                <a:solidFill>
                  <a:srgbClr val="A84420"/>
                </a:solidFill>
              </a:rPr>
              <a:t>P0</a:t>
            </a:r>
          </a:p>
        </p:txBody>
      </p:sp>
      <p:sp>
        <p:nvSpPr>
          <p:cNvPr id="13" name="debt-d-0">
            <a:extLst xmlns:a="http://schemas.openxmlformats.org/drawingml/2006/main">
              <a:ext uri="{FF2B5EF4-FFF2-40B4-BE49-F238E27FC236}">
                <a16:creationId xmlns:a16="http://schemas.microsoft.com/office/drawing/2014/main" id="{37C57B30-412C-42D5-9E2B-F62B7D19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431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253C"/>
                </a:solidFill>
              </a:defRPr>
            </a:pPr>
            <a:r>
              <a:rPr sz="1275" b="1" i="0">
                <a:solidFill>
                  <a:srgbClr val="16253C"/>
                </a:solidFill>
              </a:rPr>
              <a:t>Station patch master</a:t>
            </a:r>
          </a:p>
        </p:txBody>
      </p:sp>
      <p:sp>
        <p:nvSpPr>
          <p:cNvPr id="14" name="debt-i-0">
            <a:extLst xmlns:a="http://schemas.openxmlformats.org/drawingml/2006/main">
              <a:ext uri="{FF2B5EF4-FFF2-40B4-BE49-F238E27FC236}">
                <a16:creationId xmlns:a16="http://schemas.microsoft.com/office/drawing/2014/main" id="{26EA6908-A377-4D88-9960-C013DBE3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Current file is 102 × 102 px</a:t>
            </a:r>
          </a:p>
        </p:txBody>
      </p:sp>
      <p:sp>
        <p:nvSpPr>
          <p:cNvPr id="15" name="debt-r-0">
            <a:extLst xmlns:a="http://schemas.openxmlformats.org/drawingml/2006/main">
              <a:ext uri="{FF2B5EF4-FFF2-40B4-BE49-F238E27FC236}">
                <a16:creationId xmlns:a16="http://schemas.microsoft.com/office/drawing/2014/main" id="{069418DA-8416-4D2C-9463-DCBFE262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329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Create vector/high-resolution master</a:t>
            </a:r>
          </a:p>
        </p:txBody>
      </p:sp>
      <p:sp>
        <p:nvSpPr>
          <p:cNvPr id="16" name="debt-row-1">
            <a:extLst xmlns:a="http://schemas.openxmlformats.org/drawingml/2006/main">
              <a:ext uri="{FF2B5EF4-FFF2-40B4-BE49-F238E27FC236}">
                <a16:creationId xmlns:a16="http://schemas.microsoft.com/office/drawing/2014/main" id="{7FD678D8-DF0F-4C54-BD98-F3A87453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401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ebt-p-1">
            <a:extLst xmlns:a="http://schemas.openxmlformats.org/drawingml/2006/main">
              <a:ext uri="{FF2B5EF4-FFF2-40B4-BE49-F238E27FC236}">
                <a16:creationId xmlns:a16="http://schemas.microsoft.com/office/drawing/2014/main" id="{21009566-9158-4F8D-83BC-15E57CF3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90825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84420"/>
                </a:solidFill>
              </a:defRPr>
            </a:pPr>
            <a:r>
              <a:rPr sz="1200" b="1" i="0">
                <a:solidFill>
                  <a:srgbClr val="A84420"/>
                </a:solidFill>
              </a:rPr>
              <a:t>P0</a:t>
            </a:r>
          </a:p>
        </p:txBody>
      </p:sp>
      <p:sp>
        <p:nvSpPr>
          <p:cNvPr id="18" name="debt-d-1">
            <a:extLst xmlns:a="http://schemas.openxmlformats.org/drawingml/2006/main">
              <a:ext uri="{FF2B5EF4-FFF2-40B4-BE49-F238E27FC236}">
                <a16:creationId xmlns:a16="http://schemas.microsoft.com/office/drawing/2014/main" id="{5BF3178A-2542-47E4-99E2-E2BA6CA3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432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253C"/>
                </a:solidFill>
              </a:defRPr>
            </a:pPr>
            <a:r>
              <a:rPr sz="1275" b="1" i="0">
                <a:solidFill>
                  <a:srgbClr val="16253C"/>
                </a:solidFill>
              </a:rPr>
              <a:t>Crew illustration style</a:t>
            </a:r>
          </a:p>
        </p:txBody>
      </p:sp>
      <p:sp>
        <p:nvSpPr>
          <p:cNvPr id="19" name="debt-i-1">
            <a:extLst xmlns:a="http://schemas.openxmlformats.org/drawingml/2006/main">
              <a:ext uri="{FF2B5EF4-FFF2-40B4-BE49-F238E27FC236}">
                <a16:creationId xmlns:a16="http://schemas.microsoft.com/office/drawing/2014/main" id="{21CB795D-F3A1-4AA0-B6C8-A8A8F82A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Current and legacy Alistair styles conflict</a:t>
            </a:r>
          </a:p>
        </p:txBody>
      </p:sp>
      <p:sp>
        <p:nvSpPr>
          <p:cNvPr id="20" name="debt-r-1">
            <a:extLst xmlns:a="http://schemas.openxmlformats.org/drawingml/2006/main">
              <a:ext uri="{FF2B5EF4-FFF2-40B4-BE49-F238E27FC236}">
                <a16:creationId xmlns:a16="http://schemas.microsoft.com/office/drawing/2014/main" id="{CC989564-86DC-4885-9BAE-2C1837E5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329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Choose active style; archive the other</a:t>
            </a:r>
          </a:p>
        </p:txBody>
      </p:sp>
      <p:sp>
        <p:nvSpPr>
          <p:cNvPr id="21" name="debt-row-2">
            <a:extLst xmlns:a="http://schemas.openxmlformats.org/drawingml/2006/main">
              <a:ext uri="{FF2B5EF4-FFF2-40B4-BE49-F238E27FC236}">
                <a16:creationId xmlns:a16="http://schemas.microsoft.com/office/drawing/2014/main" id="{E1BE87E7-C1EF-4F91-84F8-7147BBB5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401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ebt-p-2">
            <a:extLst xmlns:a="http://schemas.openxmlformats.org/drawingml/2006/main">
              <a:ext uri="{FF2B5EF4-FFF2-40B4-BE49-F238E27FC236}">
                <a16:creationId xmlns:a16="http://schemas.microsoft.com/office/drawing/2014/main" id="{73978FE5-950E-4334-8F9E-30014246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90925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253C"/>
                </a:solidFill>
              </a:defRPr>
            </a:pPr>
            <a:r>
              <a:rPr sz="1200" b="1" i="0">
                <a:solidFill>
                  <a:srgbClr val="16253C"/>
                </a:solidFill>
              </a:rPr>
              <a:t>P1</a:t>
            </a:r>
          </a:p>
        </p:txBody>
      </p:sp>
      <p:sp>
        <p:nvSpPr>
          <p:cNvPr id="23" name="debt-d-2">
            <a:extLst xmlns:a="http://schemas.openxmlformats.org/drawingml/2006/main">
              <a:ext uri="{FF2B5EF4-FFF2-40B4-BE49-F238E27FC236}">
                <a16:creationId xmlns:a16="http://schemas.microsoft.com/office/drawing/2014/main" id="{0280C5B1-B6E9-4810-B6FA-7E4FD89D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433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253C"/>
                </a:solidFill>
              </a:defRPr>
            </a:pPr>
            <a:r>
              <a:rPr sz="1275" b="1" i="0">
                <a:solidFill>
                  <a:srgbClr val="16253C"/>
                </a:solidFill>
              </a:rPr>
              <a:t>E.V.I.L. typography</a:t>
            </a:r>
          </a:p>
        </p:txBody>
      </p:sp>
      <p:sp>
        <p:nvSpPr>
          <p:cNvPr id="24" name="debt-i-2">
            <a:extLst xmlns:a="http://schemas.openxmlformats.org/drawingml/2006/main">
              <a:ext uri="{FF2B5EF4-FFF2-40B4-BE49-F238E27FC236}">
                <a16:creationId xmlns:a16="http://schemas.microsoft.com/office/drawing/2014/main" id="{C818F954-6CF4-4BBA-868A-9B46F7CE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Times New Roman and DownCity both appear</a:t>
            </a:r>
          </a:p>
        </p:txBody>
      </p:sp>
      <p:sp>
        <p:nvSpPr>
          <p:cNvPr id="25" name="debt-r-2">
            <a:extLst xmlns:a="http://schemas.openxmlformats.org/drawingml/2006/main">
              <a:ext uri="{FF2B5EF4-FFF2-40B4-BE49-F238E27FC236}">
                <a16:creationId xmlns:a16="http://schemas.microsoft.com/office/drawing/2014/main" id="{463EF610-1354-45DD-B7B6-B1BD779B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329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Select one corporate treatment</a:t>
            </a:r>
          </a:p>
        </p:txBody>
      </p:sp>
      <p:sp>
        <p:nvSpPr>
          <p:cNvPr id="26" name="debt-row-3">
            <a:extLst xmlns:a="http://schemas.openxmlformats.org/drawingml/2006/main">
              <a:ext uri="{FF2B5EF4-FFF2-40B4-BE49-F238E27FC236}">
                <a16:creationId xmlns:a16="http://schemas.microsoft.com/office/drawing/2014/main" id="{995EB6E5-2B94-470A-A541-C6E42B6E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401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bt-p-3">
            <a:extLst xmlns:a="http://schemas.openxmlformats.org/drawingml/2006/main">
              <a:ext uri="{FF2B5EF4-FFF2-40B4-BE49-F238E27FC236}">
                <a16:creationId xmlns:a16="http://schemas.microsoft.com/office/drawing/2014/main" id="{20F6CC5A-1C3B-4D21-8231-41188F1F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91025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253C"/>
                </a:solidFill>
              </a:defRPr>
            </a:pPr>
            <a:r>
              <a:rPr sz="1200" b="1" i="0">
                <a:solidFill>
                  <a:srgbClr val="16253C"/>
                </a:solidFill>
              </a:rPr>
              <a:t>P1</a:t>
            </a:r>
          </a:p>
        </p:txBody>
      </p:sp>
      <p:sp>
        <p:nvSpPr>
          <p:cNvPr id="28" name="debt-d-3">
            <a:extLst xmlns:a="http://schemas.openxmlformats.org/drawingml/2006/main">
              <a:ext uri="{FF2B5EF4-FFF2-40B4-BE49-F238E27FC236}">
                <a16:creationId xmlns:a16="http://schemas.microsoft.com/office/drawing/2014/main" id="{17DBF2F5-CB04-4F50-A3B9-D833AFE5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434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253C"/>
                </a:solidFill>
              </a:defRPr>
            </a:pPr>
            <a:r>
              <a:rPr sz="1275" b="1" i="0">
                <a:solidFill>
                  <a:srgbClr val="16253C"/>
                </a:solidFill>
              </a:rPr>
              <a:t>Document templates</a:t>
            </a:r>
          </a:p>
        </p:txBody>
      </p:sp>
      <p:sp>
        <p:nvSpPr>
          <p:cNvPr id="29" name="debt-i-3">
            <a:extLst xmlns:a="http://schemas.openxmlformats.org/drawingml/2006/main">
              <a:ext uri="{FF2B5EF4-FFF2-40B4-BE49-F238E27FC236}">
                <a16:creationId xmlns:a16="http://schemas.microsoft.com/office/drawing/2014/main" id="{18040E27-0C16-4152-BBE8-7DBB08B2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243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Props share ideas but not fixed layouts</a:t>
            </a:r>
          </a:p>
        </p:txBody>
      </p:sp>
      <p:sp>
        <p:nvSpPr>
          <p:cNvPr id="30" name="debt-r-3">
            <a:extLst xmlns:a="http://schemas.openxmlformats.org/drawingml/2006/main">
              <a:ext uri="{FF2B5EF4-FFF2-40B4-BE49-F238E27FC236}">
                <a16:creationId xmlns:a16="http://schemas.microsoft.com/office/drawing/2014/main" id="{B1652EF4-DBEC-4E71-B5A8-6AF9779F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24350"/>
            <a:ext cx="329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Create briefing, evidence and memo masters</a:t>
            </a:r>
          </a:p>
        </p:txBody>
      </p:sp>
      <p:sp>
        <p:nvSpPr>
          <p:cNvPr id="31" name="debt-row-4">
            <a:extLst xmlns:a="http://schemas.openxmlformats.org/drawingml/2006/main">
              <a:ext uri="{FF2B5EF4-FFF2-40B4-BE49-F238E27FC236}">
                <a16:creationId xmlns:a16="http://schemas.microsoft.com/office/drawing/2014/main" id="{0BC07FF4-679C-4A2A-9228-D4D24BDA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401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ebt-p-4">
            <a:extLst xmlns:a="http://schemas.openxmlformats.org/drawingml/2006/main">
              <a:ext uri="{FF2B5EF4-FFF2-40B4-BE49-F238E27FC236}">
                <a16:creationId xmlns:a16="http://schemas.microsoft.com/office/drawing/2014/main" id="{6290B42B-84B7-460A-8A69-3B6BF690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253C"/>
                </a:solidFill>
              </a:defRPr>
            </a:pPr>
            <a:r>
              <a:rPr sz="1200" b="1" i="0">
                <a:solidFill>
                  <a:srgbClr val="16253C"/>
                </a:solidFill>
              </a:rPr>
              <a:t>P1</a:t>
            </a:r>
          </a:p>
        </p:txBody>
      </p:sp>
      <p:sp>
        <p:nvSpPr>
          <p:cNvPr id="33" name="debt-d-4">
            <a:extLst xmlns:a="http://schemas.openxmlformats.org/drawingml/2006/main">
              <a:ext uri="{FF2B5EF4-FFF2-40B4-BE49-F238E27FC236}">
                <a16:creationId xmlns:a16="http://schemas.microsoft.com/office/drawing/2014/main" id="{B84BB6DB-8634-40F9-976D-B0B66B24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435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253C"/>
                </a:solidFill>
              </a:defRPr>
            </a:pPr>
            <a:r>
              <a:rPr sz="1275" b="1" i="0">
                <a:solidFill>
                  <a:srgbClr val="16253C"/>
                </a:solidFill>
              </a:rPr>
              <a:t>Digital UI states</a:t>
            </a:r>
          </a:p>
        </p:txBody>
      </p:sp>
      <p:sp>
        <p:nvSpPr>
          <p:cNvPr id="34" name="debt-i-4">
            <a:extLst xmlns:a="http://schemas.openxmlformats.org/drawingml/2006/main">
              <a:ext uri="{FF2B5EF4-FFF2-40B4-BE49-F238E27FC236}">
                <a16:creationId xmlns:a16="http://schemas.microsoft.com/office/drawing/2014/main" id="{AB46C077-D7FA-462C-B5FB-4C6ECBC1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244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Only part of H.A.R.O.L.D. is implemented</a:t>
            </a:r>
          </a:p>
        </p:txBody>
      </p:sp>
      <p:sp>
        <p:nvSpPr>
          <p:cNvPr id="35" name="debt-r-4">
            <a:extLst xmlns:a="http://schemas.openxmlformats.org/drawingml/2006/main">
              <a:ext uri="{FF2B5EF4-FFF2-40B4-BE49-F238E27FC236}">
                <a16:creationId xmlns:a16="http://schemas.microsoft.com/office/drawing/2014/main" id="{FB995EE9-9E17-4ECE-ACBE-09DC26A7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24450"/>
            <a:ext cx="329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02A3A"/>
                </a:solidFill>
              </a:defRPr>
            </a:pPr>
            <a:r>
              <a:rPr sz="1200" b="0" i="0">
                <a:solidFill>
                  <a:srgbClr val="202A3A"/>
                </a:solidFill>
              </a:rPr>
              <a:t>Define five module states and feedback</a:t>
            </a:r>
          </a:p>
        </p:txBody>
      </p:sp>
    </p:spTree>
    <p:extLst>
      <p:ext uri="{BB962C8B-B14F-4D97-AF65-F5344CB8AC3E}">
        <p14:creationId xmlns:p14="http://schemas.microsoft.com/office/powerpoint/2010/main" val="1666478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">
            <a:extLst xmlns:a="http://schemas.openxmlformats.org/drawingml/2006/main">
              <a:ext uri="{FF2B5EF4-FFF2-40B4-BE49-F238E27FC236}">
                <a16:creationId xmlns:a16="http://schemas.microsoft.com/office/drawing/2014/main" id="{62E41F6F-285D-4551-8917-424D1510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9ACB2FC-8006-4702-9DD3-88DEB952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4420"/>
                </a:solidFill>
              </a:defRPr>
            </a:pPr>
            <a:r>
              <a:rPr sz="975" b="1" i="0">
                <a:solidFill>
                  <a:srgbClr val="A84420"/>
                </a:solidFill>
              </a:rPr>
              <a:t>GOVERNANCE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34B014-69A6-4DC3-AC06-C587819C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6253C"/>
                </a:solidFill>
              </a:defRPr>
            </a:pPr>
            <a:r>
              <a:rPr sz="2625" b="1" i="0">
                <a:solidFill>
                  <a:srgbClr val="16253C"/>
                </a:solidFill>
              </a:rPr>
              <a:t>Use this checklist before releasing any asset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6B92F1B-559D-494E-A8EE-D5DF6BD7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E7085F0-30ED-4E7E-A7DD-4780EC2B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8A8"/>
                </a:solidFill>
              </a:defRPr>
            </a:pPr>
            <a:r>
              <a:rPr sz="750" b="0" i="0">
                <a:solidFill>
                  <a:srgbClr val="8B98A8"/>
                </a:solidFill>
              </a:rPr>
              <a:t>SPACE STATION AURORA  |  WORKING VISUAL SYSTEM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F0ACFA1-6E8C-4867-9BE2-2CADA73C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A84420"/>
                </a:solidFill>
              </a:defRPr>
            </a:pPr>
            <a:r>
              <a:rPr sz="825" b="0" i="0">
                <a:solidFill>
                  <a:srgbClr val="A84420"/>
                </a:solidFill>
              </a:rPr>
              <a:t>15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1f33adade48f3"/>
          <a:stretch xmlns:a="http://schemas.openxmlformats.org/drawingml/2006/main"/>
        </p:blipFill>
        <p:spPr>
          <a:xfrm xmlns:a="http://schemas.openxmlformats.org/drawingml/2006/main">
            <a:off x="781050" y="1676400"/>
            <a:ext cx="2571750" cy="2571750"/>
          </a:xfrm>
          <a:prstGeom xmlns:a="http://schemas.openxmlformats.org/drawingml/2006/main" prst="rect">
            <a:avLst/>
          </a:prstGeom>
        </p:spPr>
      </p:pic>
      <p:sp>
        <p:nvSpPr>
          <p:cNvPr id="8" name="check-callout">
            <a:extLst xmlns:a="http://schemas.openxmlformats.org/drawingml/2006/main">
              <a:ext uri="{FF2B5EF4-FFF2-40B4-BE49-F238E27FC236}">
                <a16:creationId xmlns:a16="http://schemas.microsoft.com/office/drawing/2014/main" id="{F81F8161-5EA6-4A20-A338-69BECE7D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6253C"/>
                </a:solidFill>
              </a:defRPr>
            </a:pPr>
            <a:r>
              <a:rPr sz="1650" b="1" i="0">
                <a:solidFill>
                  <a:srgbClr val="16253C"/>
                </a:solidFill>
              </a:rPr>
              <a:t>If an asset cannot pass every check, label it WORKING—not final.</a:t>
            </a:r>
          </a:p>
        </p:txBody>
      </p:sp>
      <p:sp>
        <p:nvSpPr>
          <p:cNvPr id="9" name="check-box-0">
            <a:extLst xmlns:a="http://schemas.openxmlformats.org/drawingml/2006/main">
              <a:ext uri="{FF2B5EF4-FFF2-40B4-BE49-F238E27FC236}">
                <a16:creationId xmlns:a16="http://schemas.microsoft.com/office/drawing/2014/main" id="{441A23E0-B070-46BD-82BE-38C673A2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859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4420"/>
            </a:solidFill>
            <a:prstDash val="solid"/>
          </a:ln>
        </p:spPr>
      </p:sp>
      <p:sp>
        <p:nvSpPr>
          <p:cNvPr id="10" name="check-text-0">
            <a:extLst xmlns:a="http://schemas.openxmlformats.org/drawingml/2006/main">
              <a:ext uri="{FF2B5EF4-FFF2-40B4-BE49-F238E27FC236}">
                <a16:creationId xmlns:a16="http://schemas.microsoft.com/office/drawing/2014/main" id="{4110DCF3-00D4-4038-A9DA-E27522E2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668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02A3A"/>
                </a:solidFill>
              </a:defRPr>
            </a:pPr>
            <a:r>
              <a:rPr sz="1500" b="0" i="0">
                <a:solidFill>
                  <a:srgbClr val="202A3A"/>
                </a:solidFill>
              </a:rPr>
              <a:t>One clear issuer and one clear purpose</a:t>
            </a:r>
          </a:p>
        </p:txBody>
      </p:sp>
      <p:sp>
        <p:nvSpPr>
          <p:cNvPr id="11" name="check-box-1">
            <a:extLst xmlns:a="http://schemas.openxmlformats.org/drawingml/2006/main">
              <a:ext uri="{FF2B5EF4-FFF2-40B4-BE49-F238E27FC236}">
                <a16:creationId xmlns:a16="http://schemas.microsoft.com/office/drawing/2014/main" id="{FFFE638D-B139-45B9-851B-DEC54002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145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4420"/>
            </a:solidFill>
            <a:prstDash val="solid"/>
          </a:ln>
        </p:spPr>
      </p:sp>
      <p:sp>
        <p:nvSpPr>
          <p:cNvPr id="12" name="check-text-1">
            <a:extLst xmlns:a="http://schemas.openxmlformats.org/drawingml/2006/main">
              <a:ext uri="{FF2B5EF4-FFF2-40B4-BE49-F238E27FC236}">
                <a16:creationId xmlns:a16="http://schemas.microsoft.com/office/drawing/2014/main" id="{C34EE3C2-7386-491E-9225-4E06225B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02A3A"/>
                </a:solidFill>
              </a:defRPr>
            </a:pPr>
            <a:r>
              <a:rPr sz="1500" b="0" i="0">
                <a:solidFill>
                  <a:srgbClr val="202A3A"/>
                </a:solidFill>
              </a:rPr>
              <a:t>Navy and orange used with defined roles</a:t>
            </a:r>
          </a:p>
        </p:txBody>
      </p:sp>
      <p:sp>
        <p:nvSpPr>
          <p:cNvPr id="13" name="check-box-2">
            <a:extLst xmlns:a="http://schemas.openxmlformats.org/drawingml/2006/main">
              <a:ext uri="{FF2B5EF4-FFF2-40B4-BE49-F238E27FC236}">
                <a16:creationId xmlns:a16="http://schemas.microsoft.com/office/drawing/2014/main" id="{066E06FE-3A1A-4606-982A-28CE27FB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4420"/>
            </a:solidFill>
            <a:prstDash val="solid"/>
          </a:ln>
        </p:spPr>
      </p:sp>
      <p:sp>
        <p:nvSpPr>
          <p:cNvPr id="14" name="check-text-2">
            <a:extLst xmlns:a="http://schemas.openxmlformats.org/drawingml/2006/main">
              <a:ext uri="{FF2B5EF4-FFF2-40B4-BE49-F238E27FC236}">
                <a16:creationId xmlns:a16="http://schemas.microsoft.com/office/drawing/2014/main" id="{9A355DF4-EB90-4DF0-B4BC-8BD083B9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241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02A3A"/>
                </a:solidFill>
              </a:defRPr>
            </a:pPr>
            <a:r>
              <a:rPr sz="1500" b="0" i="0">
                <a:solidFill>
                  <a:srgbClr val="202A3A"/>
                </a:solidFill>
              </a:rPr>
              <a:t>Typography matches the content type</a:t>
            </a:r>
          </a:p>
        </p:txBody>
      </p:sp>
      <p:sp>
        <p:nvSpPr>
          <p:cNvPr id="15" name="check-box-3">
            <a:extLst xmlns:a="http://schemas.openxmlformats.org/drawingml/2006/main">
              <a:ext uri="{FF2B5EF4-FFF2-40B4-BE49-F238E27FC236}">
                <a16:creationId xmlns:a16="http://schemas.microsoft.com/office/drawing/2014/main" id="{866D06DB-5817-4E0B-87EC-4001CB6B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4420"/>
            </a:solidFill>
            <a:prstDash val="solid"/>
          </a:ln>
        </p:spPr>
      </p:sp>
      <p:sp>
        <p:nvSpPr>
          <p:cNvPr id="16" name="check-text-3">
            <a:extLst xmlns:a="http://schemas.openxmlformats.org/drawingml/2006/main">
              <a:ext uri="{FF2B5EF4-FFF2-40B4-BE49-F238E27FC236}">
                <a16:creationId xmlns:a16="http://schemas.microsoft.com/office/drawing/2014/main" id="{D9B86C10-67BA-41A8-BB8B-8F4AD8EE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02A3A"/>
                </a:solidFill>
              </a:defRPr>
            </a:pPr>
            <a:r>
              <a:rPr sz="1500" b="0" i="0">
                <a:solidFill>
                  <a:srgbClr val="202A3A"/>
                </a:solidFill>
              </a:rPr>
              <a:t>Images belong to the same visual generation</a:t>
            </a:r>
          </a:p>
        </p:txBody>
      </p:sp>
      <p:sp>
        <p:nvSpPr>
          <p:cNvPr id="17" name="check-box-4">
            <a:extLst xmlns:a="http://schemas.openxmlformats.org/drawingml/2006/main">
              <a:ext uri="{FF2B5EF4-FFF2-40B4-BE49-F238E27FC236}">
                <a16:creationId xmlns:a16="http://schemas.microsoft.com/office/drawing/2014/main" id="{02E9C577-FF9D-459F-B2EC-9B9036E8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00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4420"/>
            </a:solidFill>
            <a:prstDash val="solid"/>
          </a:ln>
        </p:spPr>
      </p:sp>
      <p:sp>
        <p:nvSpPr>
          <p:cNvPr id="18" name="check-text-4">
            <a:extLst xmlns:a="http://schemas.openxmlformats.org/drawingml/2006/main">
              <a:ext uri="{FF2B5EF4-FFF2-40B4-BE49-F238E27FC236}">
                <a16:creationId xmlns:a16="http://schemas.microsoft.com/office/drawing/2014/main" id="{CF83D10A-EBF6-4630-B5FA-98F21F11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814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02A3A"/>
                </a:solidFill>
              </a:defRPr>
            </a:pPr>
            <a:r>
              <a:rPr sz="1500" b="0" i="0">
                <a:solidFill>
                  <a:srgbClr val="202A3A"/>
                </a:solidFill>
              </a:rPr>
              <a:t>Dates, names, acronyms and codes match canon</a:t>
            </a:r>
          </a:p>
        </p:txBody>
      </p:sp>
      <p:sp>
        <p:nvSpPr>
          <p:cNvPr id="19" name="check-box-5">
            <a:extLst xmlns:a="http://schemas.openxmlformats.org/drawingml/2006/main">
              <a:ext uri="{FF2B5EF4-FFF2-40B4-BE49-F238E27FC236}">
                <a16:creationId xmlns:a16="http://schemas.microsoft.com/office/drawing/2014/main" id="{361172F7-DA4D-41C8-A8A8-28E1593B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29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4420"/>
            </a:solidFill>
            <a:prstDash val="solid"/>
          </a:ln>
        </p:spPr>
      </p:sp>
      <p:sp>
        <p:nvSpPr>
          <p:cNvPr id="20" name="check-text-5">
            <a:extLst xmlns:a="http://schemas.openxmlformats.org/drawingml/2006/main">
              <a:ext uri="{FF2B5EF4-FFF2-40B4-BE49-F238E27FC236}">
                <a16:creationId xmlns:a16="http://schemas.microsoft.com/office/drawing/2014/main" id="{05026D46-4F10-4FD6-86C5-FA81A80E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101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02A3A"/>
                </a:solidFill>
              </a:defRPr>
            </a:pPr>
            <a:r>
              <a:rPr sz="1500" b="0" i="0">
                <a:solidFill>
                  <a:srgbClr val="202A3A"/>
                </a:solidFill>
              </a:rPr>
              <a:t>Print size, contrast and crop have been tested</a:t>
            </a:r>
          </a:p>
        </p:txBody>
      </p:sp>
      <p:sp>
        <p:nvSpPr>
          <p:cNvPr id="21" name="check-box-6">
            <a:extLst xmlns:a="http://schemas.openxmlformats.org/drawingml/2006/main">
              <a:ext uri="{FF2B5EF4-FFF2-40B4-BE49-F238E27FC236}">
                <a16:creationId xmlns:a16="http://schemas.microsoft.com/office/drawing/2014/main" id="{3347E537-49CC-4A01-A2FD-E1840D44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57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4420"/>
            </a:solidFill>
            <a:prstDash val="solid"/>
          </a:ln>
        </p:spPr>
      </p:sp>
      <p:sp>
        <p:nvSpPr>
          <p:cNvPr id="22" name="check-text-6">
            <a:extLst xmlns:a="http://schemas.openxmlformats.org/drawingml/2006/main">
              <a:ext uri="{FF2B5EF4-FFF2-40B4-BE49-F238E27FC236}">
                <a16:creationId xmlns:a16="http://schemas.microsoft.com/office/drawing/2014/main" id="{C811FD9A-09FD-47A7-9FAA-05516C18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387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02A3A"/>
                </a:solidFill>
              </a:defRPr>
            </a:pPr>
            <a:r>
              <a:rPr sz="1500" b="0" i="0">
                <a:solidFill>
                  <a:srgbClr val="202A3A"/>
                </a:solidFill>
              </a:rPr>
              <a:t>Source file, export and archive version are named</a:t>
            </a:r>
          </a:p>
        </p:txBody>
      </p:sp>
      <p:sp>
        <p:nvSpPr>
          <p:cNvPr id="23" name="next-action">
            <a:extLst xmlns:a="http://schemas.openxmlformats.org/drawingml/2006/main">
              <a:ext uri="{FF2B5EF4-FFF2-40B4-BE49-F238E27FC236}">
                <a16:creationId xmlns:a16="http://schemas.microsoft.com/office/drawing/2014/main" id="{DC9C2D4C-5796-461D-B6A8-1500D757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924550"/>
            <a:ext cx="64389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1D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next-action-copy">
            <a:extLst xmlns:a="http://schemas.openxmlformats.org/drawingml/2006/main">
              <a:ext uri="{FF2B5EF4-FFF2-40B4-BE49-F238E27FC236}">
                <a16:creationId xmlns:a16="http://schemas.microsoft.com/office/drawing/2014/main" id="{41C3D78F-6D3A-435D-81B6-520989C4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010275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84420"/>
                </a:solidFill>
              </a:defRPr>
            </a:pPr>
            <a:r>
              <a:rPr sz="1200" b="1" i="0">
                <a:solidFill>
                  <a:srgbClr val="A84420"/>
                </a:solidFill>
              </a:rPr>
              <a:t>NEXT: resolve the P0 decisions, then create reusable prop templates.</a:t>
            </a:r>
          </a:p>
        </p:txBody>
      </p:sp>
    </p:spTree>
    <p:extLst>
      <p:ext uri="{BB962C8B-B14F-4D97-AF65-F5344CB8AC3E}">
        <p14:creationId xmlns:p14="http://schemas.microsoft.com/office/powerpoint/2010/main" val="1310585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2026-09-03T14:39:51.9250000Z</dcterms:created>
  <dcterms:modified xsi:type="dcterms:W3CDTF">2026-09-03T14:39:51.9270000Z</dcterms:modified>
</coreProperties>
</file>